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56f28b5-9edc-451c-bc13-fba77c883e11}">
          <p14:sldIdLst>
            <p14:sldId id="256"/>
            <p14:sldId id="257"/>
            <p14:sldId id="258"/>
          </p14:sldIdLst>
        </p14:section>
        <p14:section name="Data" id="{553da91a-4026-1f68-7aaa-578e4ba0dfe1}">
          <p14:sldIdLst>
            <p14:sldId id="259"/>
            <p14:sldId id="260"/>
          </p14:sldIdLst>
        </p14:section>
        <p14:section name="Method" id="{a49ba74b-4ffc-9358-0fff-854b85f0587e}">
          <p14:sldIdLst>
            <p14:sldId id="261"/>
            <p14:sldId id="262"/>
          </p14:sldIdLst>
        </p14:section>
        <p14:section name="Results" id="{1f148b57-1a39-31d7-ba77-c4987bd00402}">
          <p14:sldIdLst>
            <p14:sldId id="263"/>
            <p14:sldId id="264"/>
            <p14:sldId id="265"/>
            <p14:sldId id="266"/>
          </p14:sldIdLst>
        </p14:section>
        <p14:section name="Conclusion" id="{81b1fd13-08f7-a47e-2618-27b9374603c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328"/>
                </a:solidFill>
                <a:latin typeface="+mn-lt"/>
              </a:defRPr>
            </a:pPr>
            <a:r>
              <a:rPr sz="1300" b="0" i="0" u="none" strike="noStrike">
                <a:solidFill>
                  <a:srgbClr val="1F2328"/>
                </a:solidFill>
                <a:latin typeface="+mn-lt"/>
              </a:rPr>
              <a:t>Class balance after cleaning</a:t>
            </a:r>
          </a:p>
        </c:rich>
      </c:tx>
      <c:layout/>
      <c:overlay val="0"/>
    </c:title>
    <c:autoTitleDeleted val="0"/>
    <c:plotArea>
      <c:layout/>
      <c:barChart>
        <c:barDir val="col"/>
        <c:grouping val="clustered"/>
        <c:varyColors val="0"/>
        <c:ser>
          <c:idx val="0"/>
          <c:order val="0"/>
          <c:tx>
            <c:strRef>
              <c:f>Sheet1!$B$1</c:f>
              <c:strCache>
                <c:ptCount val="1"/>
                <c:pt idx="0">
                  <c:v>Crops</c:v>
                </c:pt>
              </c:strCache>
            </c:strRef>
          </c:tx>
          <c:spPr>
            <a:solidFill>
              <a:srgbClr val="495057"/>
            </a:solidFill>
            <a:effectLst/>
          </c:spPr>
          <c:invertIfNegative val="0"/>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495057"/>
              </a:solidFill>
              <a:effectLst/>
            </c:spPr>
          </c:dPt>
          <c:dPt>
            <c:idx val="1"/>
            <c:invertIfNegative val="0"/>
            <c:bubble3D val="0"/>
            <c:spPr>
              <a:solidFill>
                <a:srgbClr val="D9480F"/>
              </a:solidFill>
              <a:effectLst/>
            </c:spPr>
          </c:dPt>
          <c:cat>
            <c:multiLvlStrRef>
              <c:f>Sheet1!$A$2:$A$3</c:f>
              <c:multiLvlStrCache>
                <c:ptCount val="2"/>
                <c:lvl>
                  <c:pt idx="0">
                    <c:v>helmet</c:v>
                  </c:pt>
                  <c:pt idx="1">
                    <c:v>no_helmet</c:v>
                  </c:pt>
                </c:lvl>
              </c:multiLvlStrCache>
            </c:multiLvlStrRef>
          </c:cat>
          <c:val>
            <c:numRef>
              <c:f>Sheet1!$B$2:$B$3</c:f>
              <c:numCache>
                <c:formatCode>General</c:formatCode>
                <c:ptCount val="2"/>
                <c:pt idx="0">
                  <c:v>13410</c:v>
                </c:pt>
                <c:pt idx="1">
                  <c:v>3634</c:v>
                </c:pt>
              </c:numCache>
            </c:numRef>
          </c:val>
        </c:ser>
        <c:dLbls>
          <c:numFmt formatCode="#,##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9EC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950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95057"/>
                </a:solidFill>
                <a:latin typeface="+mn-lt"/>
              </a:defRPr>
            </a:pPr>
            <a:r>
              <a:rPr sz="1200" b="0" i="0" u="none" strike="noStrike">
                <a:solidFill>
                  <a:srgbClr val="495057"/>
                </a:solidFill>
                <a:latin typeface="+mn-lt"/>
              </a:rPr>
              <a:t>Positive class = no_helmet, threshold 0.5</a:t>
            </a:r>
          </a:p>
        </c:rich>
      </c:tx>
      <c:layout/>
      <c:overlay val="0"/>
    </c:title>
    <c:autoTitleDeleted val="0"/>
    <c:plotArea>
      <c:layout/>
      <c:barChart>
        <c:barDir val="col"/>
        <c:grouping val="clustered"/>
        <c:varyColors val="0"/>
        <c:ser>
          <c:idx val="0"/>
          <c:order val="0"/>
          <c:tx>
            <c:strRef>
              <c:f>Sheet1!$B$1</c:f>
              <c:strCache>
                <c:ptCount val="1"/>
                <c:pt idx="0">
                  <c:v>Custom CNN</c:v>
                </c:pt>
              </c:strCache>
            </c:strRef>
          </c:tx>
          <c:spPr>
            <a:solidFill>
              <a:srgbClr val="868E96"/>
            </a:solidFill>
            <a:effectLst/>
          </c:spPr>
          <c:invertIfNegative val="0"/>
          <c:dLbls>
            <c:numFmt formatCode="0.00" sourceLinked="0"/>
            <c:txPr>
              <a:bodyPr/>
              <a:lstStyle/>
              <a:p>
                <a:pPr>
                  <a:defRPr b="0" i="0" strike="noStrike" sz="9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Sheet1!$B$2:$B$6</c:f>
              <c:numCache>
                <c:formatCode>General</c:formatCode>
                <c:ptCount val="5"/>
                <c:pt idx="0">
                  <c:v>0.9444</c:v>
                </c:pt>
                <c:pt idx="1">
                  <c:v>0.8833</c:v>
                </c:pt>
                <c:pt idx="2">
                  <c:v>0.8394</c:v>
                </c:pt>
                <c:pt idx="3">
                  <c:v>0.8608</c:v>
                </c:pt>
                <c:pt idx="4">
                  <c:v>0.9773</c:v>
                </c:pt>
              </c:numCache>
            </c:numRef>
          </c:val>
        </c:ser>
        <c:ser>
          <c:idx val="1"/>
          <c:order val="1"/>
          <c:tx>
            <c:strRef>
              <c:f>Sheet1!$C$1</c:f>
              <c:strCache>
                <c:ptCount val="1"/>
                <c:pt idx="0">
                  <c:v>MobileNetV2</c:v>
                </c:pt>
              </c:strCache>
            </c:strRef>
          </c:tx>
          <c:spPr>
            <a:solidFill>
              <a:srgbClr val="D9480F"/>
            </a:solidFill>
            <a:effectLst/>
          </c:spPr>
          <c:invertIfNegative val="0"/>
          <c:dLbls>
            <c:numFmt formatCode="0.00" sourceLinked="0"/>
            <c:txPr>
              <a:bodyPr/>
              <a:lstStyle/>
              <a:p>
                <a:pPr>
                  <a:defRPr b="0" i="0" strike="noStrike" sz="9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Sheet1!$C$2:$C$6</c:f>
              <c:numCache>
                <c:formatCode>General</c:formatCode>
                <c:ptCount val="5"/>
                <c:pt idx="0">
                  <c:v>0.9734</c:v>
                </c:pt>
                <c:pt idx="1">
                  <c:v>0.9407</c:v>
                </c:pt>
                <c:pt idx="2">
                  <c:v>0.9261</c:v>
                </c:pt>
                <c:pt idx="3">
                  <c:v>0.9333</c:v>
                </c:pt>
                <c:pt idx="4">
                  <c:v>0.9925</c:v>
                </c:pt>
              </c:numCache>
            </c:numRef>
          </c:val>
        </c:ser>
        <c:dLbls>
          <c:numFmt formatCode="0.00" sourceLinked="0"/>
          <c:txPr>
            <a:bodyPr/>
            <a:lstStyle/>
            <a:p>
              <a:pPr>
                <a:defRPr b="0" i="0" strike="noStrike" sz="9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E9EC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95057"/>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4950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328"/>
                </a:solidFill>
                <a:latin typeface="+mn-lt"/>
              </a:defRPr>
            </a:pPr>
            <a:r>
              <a:rPr sz="1200" b="0" i="0" u="none" strike="noStrike">
                <a:solidFill>
                  <a:srgbClr val="1F2328"/>
                </a:solidFill>
                <a:latin typeface="+mn-lt"/>
              </a:rPr>
              <a:t>Mean inference time per image (CPU)</a:t>
            </a:r>
          </a:p>
        </c:rich>
      </c:tx>
      <c:layout/>
      <c:overlay val="0"/>
    </c:title>
    <c:autoTitleDeleted val="0"/>
    <c:plotArea>
      <c:layout/>
      <c:barChart>
        <c:barDir val="bar"/>
        <c:grouping val="clustered"/>
        <c:varyColors val="0"/>
        <c:ser>
          <c:idx val="0"/>
          <c:order val="0"/>
          <c:tx>
            <c:strRef>
              <c:f>Sheet1!$B$1</c:f>
              <c:strCache>
                <c:ptCount val="1"/>
                <c:pt idx="0">
                  <c:v>Latency</c:v>
                </c:pt>
              </c:strCache>
            </c:strRef>
          </c:tx>
          <c:spPr>
            <a:solidFill>
              <a:srgbClr val="868E96"/>
            </a:solidFill>
            <a:effectLst/>
          </c:spPr>
          <c:invertIfNegative val="0"/>
          <c:dLbls>
            <c:numFmt formatCode="0.0 &quot;m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868E96"/>
              </a:solidFill>
              <a:effectLst/>
            </c:spPr>
          </c:dPt>
          <c:dPt>
            <c:idx val="1"/>
            <c:invertIfNegative val="0"/>
            <c:bubble3D val="0"/>
            <c:spPr>
              <a:solidFill>
                <a:srgbClr val="D9480F"/>
              </a:solidFill>
              <a:effectLst/>
            </c:spPr>
          </c:dPt>
          <c:cat>
            <c:multiLvlStrRef>
              <c:f>Sheet1!$A$2:$A$3</c:f>
              <c:multiLvlStrCache>
                <c:ptCount val="2"/>
                <c:lvl>
                  <c:pt idx="0">
                    <c:v>Custom CNN</c:v>
                  </c:pt>
                  <c:pt idx="1">
                    <c:v>MobileNetV2</c:v>
                  </c:pt>
                </c:lvl>
              </c:multiLvlStrCache>
            </c:multiLvlStrRef>
          </c:cat>
          <c:val>
            <c:numRef>
              <c:f>Sheet1!$B$2:$B$3</c:f>
              <c:numCache>
                <c:formatCode>General</c:formatCode>
                <c:ptCount val="2"/>
                <c:pt idx="0">
                  <c:v>116.5</c:v>
                </c:pt>
                <c:pt idx="1">
                  <c:v>149.6</c:v>
                </c:pt>
              </c:numCache>
            </c:numRef>
          </c:val>
        </c:ser>
        <c:dLbls>
          <c:numFmt formatCode="0.0 &quot;ms&quot;"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2"/>
        <c:crosses val="autoZero"/>
        <c:auto val="1"/>
        <c:lblAlgn val="ctr"/>
        <c:noMultiLvlLbl val="1"/>
      </c:catAx>
      <c:valAx>
        <c:axId val="2094734552"/>
        <c:scaling>
          <c:orientation val="minMax"/>
          <c:max val="180"/>
        </c:scaling>
        <c:delete val="0"/>
        <c:axPos val="b"/>
        <c:majorGridlines>
          <c:spPr>
            <a:ln w="6350" cap="flat">
              <a:solidFill>
                <a:srgbClr val="E9EC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950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asks a narrow, practical question: given a cropped image of a construction worker's head, can a CNN reliably tell whether a hard hat is being worn? I compare a CNN trained from scratch with two ImageNet-pretrained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hats are mandatory on active sites, but checking compliance still depends on people. Since most sites already have cameras, the aim is to build the recognition step: is this particular head wearing a helmet?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turns a detection dataset into a classification problem. Each annotated head is cropped, the crops are cleaned, three models are trained, and all of them are evaluated on the same metrics plus Grad-CAM.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Kaggle Hard Hat Workers dataset has 18,966 helmet and 5,785 head boxes. About 31 percent were too small to crop. Cleaning removed 34 more. The final set is 3.69 to 1 in favour of helmets, so accuracy alone is misleading: predicting helmet every time gives 78.7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30 percent holdout was split in half by batches into validation and test. Augmentation mimics realistic site variation: workers facing either way, slightly tilted cameras, and changing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 CNN is about a tenth of the size of MobileNetV2 and a hundredth of ResNet50. Its parameter count works out as 896 + 18,496 + 73,856 + 147,584 for the convolutions, 1,408 for batch norm, and 16,512 + 129 for the dense layers, giving 258,881.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ran on CPU, so each epoch took 6 to 26 minutes and only two epochs were possible. The custom CNN had clearly not converged. ResNet50 reached 97.5 percent validation accuracy after one epoch, but the run was interrupted during its second epoch, so it was not included in the test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class is no_helmet, since missing a bare head is the costly error. MobileNetV2 beats the custom CNN on all five metrics. Note the y-axis starts at 0.7 to make the differences visible. ROC-AUC is high for both, so both models rank bare heads above helmets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matrices: for the custom CNN, 84 bare heads were predicted as helmet and 58 helmets as bare heads. MobileNetV2 cuts these to 38 and 30. Precision follows the same way: 439 over 497 is 0.883 for the custom CNN, and 476 over 506 is 0.941 for MobileNetV2.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ROC curves hug the top-left corner. The speed gain from the custom CNN is real but modest: 1 minus 116.5 over 149.6 is about 22 percent. These timings include Keras predict overhead, so batched GPU inference would be much faster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weights the last conv layer's feature maps by their average gradient. For the custom CNN the activation often sits on the edges of the crop rather than on the helmet itself. Grad-CAM for MobileNetV2 failed with a KeyError, because the code targets a layer inside the nested backbone that Keras 3 does not connect to the outer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caveats. The biggest ones are the short CPU training and the validation/test split: because the holdout is reshuffled each time it is read, the two subsets are not fixed, which is why the test set has 523 no_helmet crops for one model and 514 for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is the best choice for deployment here: highest recall and accuracy at a modest size. The custom CNN gets within three points of accuracy with a ninth of the parameters, and would likely close more of the gap with proper GPU training.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926080"/>
            <a:ext cx="804672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Construction Helmet Use Recognition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777240" cy="777240"/>
          </a:xfrm>
          <a:prstGeom prst="rect">
            <a:avLst/>
          </a:prstGeom>
        </p:spPr>
      </p:pic>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rPr>
              <a:t>Construction Helmet Use Recognition</a:t>
            </a:r>
            <a:endParaRPr lang="en-US" sz="3600" dirty="0"/>
          </a:p>
        </p:txBody>
      </p:sp>
      <p:sp>
        <p:nvSpPr>
          <p:cNvPr id="4" name="Text 0"/>
          <p:cNvSpPr/>
          <p:nvPr>
            <p:ph idx="101" type="body" hasCustomPrompt="1"/>
          </p:nvPr>
        </p:nvSpPr>
        <p:spPr>
          <a:xfrm>
            <a:off x="548640" y="2926080"/>
            <a:ext cx="8046720" cy="1280160"/>
          </a:xfrm>
          <a:prstGeom prst="rect">
            <a:avLst/>
          </a:prstGeom>
          <a:noFill/>
          <a:ln/>
        </p:spPr>
        <p:txBody>
          <a:bodyPr wrap="square" lIns="0" tIns="0" rIns="0" bIns="0" rtlCol="0" anchor="t"/>
          <a:lstStyle/>
          <a:p>
            <a:pPr indent="0" marL="0">
              <a:buNone/>
            </a:pPr>
            <a:r>
              <a:rPr lang="en-US" sz="1600" dirty="0">
                <a:solidFill>
                  <a:schemeClr val="bg2"/>
                </a:solidFill>
              </a:rPr>
              <a:t>Benchmarking a custom CNN against transfer learning for hard-hat compliance</a:t>
            </a:r>
            <a:endParaRPr lang="en-US" sz="1600" dirty="0"/>
          </a:p>
          <a:p>
            <a:pPr indent="0" marL="0">
              <a:buNone/>
            </a:pPr>
            <a:r>
              <a:rPr lang="en-US" sz="800" dirty="0">
                <a:solidFill>
                  <a:schemeClr val="bg2"/>
                </a:solidFill>
              </a:rPr>
              <a:t> </a:t>
            </a:r>
            <a:endParaRPr lang="en-US" sz="1600" dirty="0"/>
          </a:p>
          <a:p>
            <a:pPr indent="0" marL="0">
              <a:buNone/>
            </a:pPr>
            <a:r>
              <a:rPr lang="en-US" sz="1300" dirty="0">
                <a:solidFill>
                  <a:schemeClr val="accent1"/>
                </a:solidFill>
              </a:rPr>
              <a:t>Iyallareddy Likith Reddy  ·  MSc Data Science, Arden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Why automate helmet checks?</a:t>
            </a:r>
            <a:endParaRPr lang="en-US" sz="2800" dirty="0"/>
          </a:p>
        </p:txBody>
      </p:sp>
      <p:sp>
        <p:nvSpPr>
          <p:cNvPr id="3" name="problem-card-0"/>
          <p:cNvSpPr/>
          <p:nvPr/>
        </p:nvSpPr>
        <p:spPr>
          <a:xfrm>
            <a:off x="457200" y="1234440"/>
            <a:ext cx="2606040" cy="2834640"/>
          </a:xfrm>
          <a:prstGeom prst="roundRect">
            <a:avLst>
              <a:gd name="adj" fmla="val 2807"/>
            </a:avLst>
          </a:prstGeom>
          <a:solidFill>
            <a:schemeClr val="bg2"/>
          </a:solidFill>
          <a:ln w="12700">
            <a:solidFill>
              <a:schemeClr val="bg2"/>
            </a:solidFill>
            <a:prstDash val="solid"/>
          </a:ln>
        </p:spPr>
      </p:sp>
      <p:sp>
        <p:nvSpPr>
          <p:cNvPr id="4" name="Shape 2"/>
          <p:cNvSpPr/>
          <p:nvPr/>
        </p:nvSpPr>
        <p:spPr>
          <a:xfrm>
            <a:off x="731520" y="146304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6" name="Text 3"/>
          <p:cNvSpPr txBox="1"/>
          <p:nvPr/>
        </p:nvSpPr>
        <p:spPr>
          <a:xfrm>
            <a:off x="731520" y="2194560"/>
            <a:ext cx="2103120"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Head injuries are severe</a:t>
            </a:r>
            <a:endParaRPr lang="en-US" sz="1700" dirty="0"/>
          </a:p>
        </p:txBody>
      </p:sp>
      <p:sp>
        <p:nvSpPr>
          <p:cNvPr id="7" name="Text 4"/>
          <p:cNvSpPr txBox="1"/>
          <p:nvPr/>
        </p:nvSpPr>
        <p:spPr>
          <a:xfrm>
            <a:off x="731520" y="2697480"/>
            <a:ext cx="2103120" cy="1554480"/>
          </a:xfrm>
          <a:prstGeom prst="rect">
            <a:avLst/>
          </a:prstGeom>
          <a:noFill/>
          <a:ln/>
        </p:spPr>
        <p:txBody>
          <a:bodyPr wrap="square" lIns="0" tIns="0" rIns="0" bIns="0" rtlCol="0" anchor="t"/>
          <a:lstStyle/>
          <a:p>
            <a:pPr indent="0" marL="0">
              <a:buNone/>
            </a:pPr>
            <a:r>
              <a:rPr lang="en-US" sz="1400" dirty="0">
                <a:solidFill>
                  <a:schemeClr val="tx2"/>
                </a:solidFill>
              </a:rPr>
              <a:t>Falling objects and falls from height make the head one of the most exposed body parts on site.</a:t>
            </a:r>
            <a:endParaRPr lang="en-US" sz="1400" dirty="0"/>
          </a:p>
        </p:txBody>
      </p:sp>
      <p:sp>
        <p:nvSpPr>
          <p:cNvPr id="8" name="problem-card-1"/>
          <p:cNvSpPr/>
          <p:nvPr/>
        </p:nvSpPr>
        <p:spPr>
          <a:xfrm>
            <a:off x="3273552" y="1234440"/>
            <a:ext cx="2606040" cy="2834640"/>
          </a:xfrm>
          <a:prstGeom prst="roundRect">
            <a:avLst>
              <a:gd name="adj" fmla="val 2807"/>
            </a:avLst>
          </a:prstGeom>
          <a:solidFill>
            <a:schemeClr val="bg2"/>
          </a:solidFill>
          <a:ln w="12700">
            <a:solidFill>
              <a:schemeClr val="bg2"/>
            </a:solidFill>
            <a:prstDash val="solid"/>
          </a:ln>
        </p:spPr>
      </p:sp>
      <p:sp>
        <p:nvSpPr>
          <p:cNvPr id="9" name="Shape 6"/>
          <p:cNvSpPr/>
          <p:nvPr/>
        </p:nvSpPr>
        <p:spPr>
          <a:xfrm>
            <a:off x="3547872" y="1463040"/>
            <a:ext cx="548640" cy="54864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68573" y="1583741"/>
            <a:ext cx="307238" cy="307238"/>
          </a:xfrm>
          <a:prstGeom prst="rect">
            <a:avLst/>
          </a:prstGeom>
        </p:spPr>
      </p:pic>
      <p:sp>
        <p:nvSpPr>
          <p:cNvPr id="11" name="Text 7"/>
          <p:cNvSpPr txBox="1"/>
          <p:nvPr/>
        </p:nvSpPr>
        <p:spPr>
          <a:xfrm>
            <a:off x="3547872" y="2194560"/>
            <a:ext cx="2103120"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Manual checks don't scale</a:t>
            </a:r>
            <a:endParaRPr lang="en-US" sz="1700" dirty="0"/>
          </a:p>
        </p:txBody>
      </p:sp>
      <p:sp>
        <p:nvSpPr>
          <p:cNvPr id="12" name="Text 8"/>
          <p:cNvSpPr txBox="1"/>
          <p:nvPr/>
        </p:nvSpPr>
        <p:spPr>
          <a:xfrm>
            <a:off x="3547872" y="2697480"/>
            <a:ext cx="2103120" cy="1554480"/>
          </a:xfrm>
          <a:prstGeom prst="rect">
            <a:avLst/>
          </a:prstGeom>
          <a:noFill/>
          <a:ln/>
        </p:spPr>
        <p:txBody>
          <a:bodyPr wrap="square" lIns="0" tIns="0" rIns="0" bIns="0" rtlCol="0" anchor="t"/>
          <a:lstStyle/>
          <a:p>
            <a:pPr indent="0" marL="0">
              <a:buNone/>
            </a:pPr>
            <a:r>
              <a:rPr lang="en-US" sz="1400" dirty="0">
                <a:solidFill>
                  <a:schemeClr val="tx2"/>
                </a:solidFill>
              </a:rPr>
              <a:t>Supervisors walking the site miss short lapses and cannot watch every area at once.</a:t>
            </a:r>
            <a:endParaRPr lang="en-US" sz="1400" dirty="0"/>
          </a:p>
        </p:txBody>
      </p:sp>
      <p:sp>
        <p:nvSpPr>
          <p:cNvPr id="13" name="problem-card-2"/>
          <p:cNvSpPr/>
          <p:nvPr/>
        </p:nvSpPr>
        <p:spPr>
          <a:xfrm>
            <a:off x="6089904" y="1234440"/>
            <a:ext cx="2606040" cy="2834640"/>
          </a:xfrm>
          <a:prstGeom prst="roundRect">
            <a:avLst>
              <a:gd name="adj" fmla="val 2807"/>
            </a:avLst>
          </a:prstGeom>
          <a:solidFill>
            <a:schemeClr val="bg2"/>
          </a:solidFill>
          <a:ln w="12700">
            <a:solidFill>
              <a:schemeClr val="bg2"/>
            </a:solidFill>
            <a:prstDash val="solid"/>
          </a:ln>
        </p:spPr>
      </p:sp>
      <p:sp>
        <p:nvSpPr>
          <p:cNvPr id="14" name="Shape 10"/>
          <p:cNvSpPr/>
          <p:nvPr/>
        </p:nvSpPr>
        <p:spPr>
          <a:xfrm>
            <a:off x="6364224" y="1463040"/>
            <a:ext cx="548640" cy="54864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484925" y="1583741"/>
            <a:ext cx="307238" cy="307238"/>
          </a:xfrm>
          <a:prstGeom prst="rect">
            <a:avLst/>
          </a:prstGeom>
        </p:spPr>
      </p:pic>
      <p:sp>
        <p:nvSpPr>
          <p:cNvPr id="16" name="Text 11"/>
          <p:cNvSpPr txBox="1"/>
          <p:nvPr/>
        </p:nvSpPr>
        <p:spPr>
          <a:xfrm>
            <a:off x="6364224" y="2194560"/>
            <a:ext cx="2103120"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Cameras are already there</a:t>
            </a:r>
            <a:endParaRPr lang="en-US" sz="1700" dirty="0"/>
          </a:p>
        </p:txBody>
      </p:sp>
      <p:sp>
        <p:nvSpPr>
          <p:cNvPr id="17" name="Text 12"/>
          <p:cNvSpPr txBox="1"/>
          <p:nvPr/>
        </p:nvSpPr>
        <p:spPr>
          <a:xfrm>
            <a:off x="6364224" y="2697480"/>
            <a:ext cx="2103120" cy="1554480"/>
          </a:xfrm>
          <a:prstGeom prst="rect">
            <a:avLst/>
          </a:prstGeom>
          <a:noFill/>
          <a:ln/>
        </p:spPr>
        <p:txBody>
          <a:bodyPr wrap="square" lIns="0" tIns="0" rIns="0" bIns="0" rtlCol="0" anchor="t"/>
          <a:lstStyle/>
          <a:p>
            <a:pPr indent="0" marL="0">
              <a:buNone/>
            </a:pPr>
            <a:r>
              <a:rPr lang="en-US" sz="1400" dirty="0">
                <a:solidFill>
                  <a:schemeClr val="tx2"/>
                </a:solidFill>
              </a:rPr>
              <a:t>Most large sites run CCTV, so recognising helmet use from video is a natural next step.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End-to-end pipeline</a:t>
            </a:r>
            <a:endParaRPr lang="en-US" sz="2800" dirty="0"/>
          </a:p>
        </p:txBody>
      </p:sp>
      <p:sp>
        <p:nvSpPr>
          <p:cNvPr id="3" name="Shape 1"/>
          <p:cNvSpPr/>
          <p:nvPr/>
        </p:nvSpPr>
        <p:spPr>
          <a:xfrm>
            <a:off x="914400" y="1463040"/>
            <a:ext cx="685800" cy="68580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1065276" y="1613916"/>
            <a:ext cx="384048" cy="384048"/>
          </a:xfrm>
          <a:prstGeom prst="rect">
            <a:avLst/>
          </a:prstGeom>
        </p:spPr>
      </p:pic>
      <p:sp>
        <p:nvSpPr>
          <p:cNvPr id="5" name="Text 2"/>
          <p:cNvSpPr txBox="1"/>
          <p:nvPr/>
        </p:nvSpPr>
        <p:spPr>
          <a:xfrm>
            <a:off x="457200" y="2331720"/>
            <a:ext cx="1600200" cy="36576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Dataset</a:t>
            </a:r>
            <a:endParaRPr lang="en-US" sz="1600" dirty="0"/>
          </a:p>
        </p:txBody>
      </p:sp>
      <p:sp>
        <p:nvSpPr>
          <p:cNvPr id="6" name="Text 3"/>
          <p:cNvSpPr txBox="1"/>
          <p:nvPr/>
        </p:nvSpPr>
        <p:spPr>
          <a:xfrm>
            <a:off x="457200" y="2697480"/>
            <a:ext cx="1600200" cy="822960"/>
          </a:xfrm>
          <a:prstGeom prst="rect">
            <a:avLst/>
          </a:prstGeom>
          <a:noFill/>
          <a:ln/>
        </p:spPr>
        <p:txBody>
          <a:bodyPr wrap="square" lIns="0" tIns="0" rIns="0" bIns="0" rtlCol="0" anchor="t"/>
          <a:lstStyle/>
          <a:p>
            <a:pPr algn="ctr" indent="0" marL="0">
              <a:buNone/>
            </a:pPr>
            <a:r>
              <a:rPr lang="en-US" sz="1300" dirty="0">
                <a:solidFill>
                  <a:schemeClr val="tx2"/>
                </a:solidFill>
              </a:rPr>
              <a:t>5,000 site images with VOC boxes</a:t>
            </a:r>
            <a:endParaRPr lang="en-US" sz="1300" dirty="0"/>
          </a:p>
        </p:txBody>
      </p:sp>
      <p:sp>
        <p:nvSpPr>
          <p:cNvPr id="7" name="Shape 4"/>
          <p:cNvSpPr/>
          <p:nvPr/>
        </p:nvSpPr>
        <p:spPr>
          <a:xfrm>
            <a:off x="1783080" y="1691640"/>
            <a:ext cx="274320" cy="228600"/>
          </a:xfrm>
          <a:prstGeom prst="rightArrow">
            <a:avLst/>
          </a:prstGeom>
          <a:solidFill>
            <a:schemeClr val="accent4"/>
          </a:solidFill>
          <a:ln w="12700">
            <a:solidFill>
              <a:schemeClr val="accent4"/>
            </a:solidFill>
            <a:prstDash val="solid"/>
          </a:ln>
        </p:spPr>
      </p:sp>
      <p:sp>
        <p:nvSpPr>
          <p:cNvPr id="8" name="Shape 5"/>
          <p:cNvSpPr/>
          <p:nvPr/>
        </p:nvSpPr>
        <p:spPr>
          <a:xfrm>
            <a:off x="2615184" y="1463040"/>
            <a:ext cx="685800" cy="68580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2766060" y="1613916"/>
            <a:ext cx="384048" cy="384048"/>
          </a:xfrm>
          <a:prstGeom prst="rect">
            <a:avLst/>
          </a:prstGeom>
        </p:spPr>
      </p:pic>
      <p:sp>
        <p:nvSpPr>
          <p:cNvPr id="10" name="Text 6"/>
          <p:cNvSpPr txBox="1"/>
          <p:nvPr/>
        </p:nvSpPr>
        <p:spPr>
          <a:xfrm>
            <a:off x="2157984" y="2331720"/>
            <a:ext cx="1600200" cy="36576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Crop</a:t>
            </a:r>
            <a:endParaRPr lang="en-US" sz="1600" dirty="0"/>
          </a:p>
        </p:txBody>
      </p:sp>
      <p:sp>
        <p:nvSpPr>
          <p:cNvPr id="11" name="Text 7"/>
          <p:cNvSpPr txBox="1"/>
          <p:nvPr/>
        </p:nvSpPr>
        <p:spPr>
          <a:xfrm>
            <a:off x="2157984" y="2697480"/>
            <a:ext cx="1600200" cy="822960"/>
          </a:xfrm>
          <a:prstGeom prst="rect">
            <a:avLst/>
          </a:prstGeom>
          <a:noFill/>
          <a:ln/>
        </p:spPr>
        <p:txBody>
          <a:bodyPr wrap="square" lIns="0" tIns="0" rIns="0" bIns="0" rtlCol="0" anchor="t"/>
          <a:lstStyle/>
          <a:p>
            <a:pPr algn="ctr" indent="0" marL="0">
              <a:buNone/>
            </a:pPr>
            <a:r>
              <a:rPr lang="en-US" sz="1300" dirty="0">
                <a:solidFill>
                  <a:schemeClr val="tx2"/>
                </a:solidFill>
              </a:rPr>
              <a:t>Head boxes cut out with 10% padding</a:t>
            </a:r>
            <a:endParaRPr lang="en-US" sz="1300" dirty="0"/>
          </a:p>
        </p:txBody>
      </p:sp>
      <p:sp>
        <p:nvSpPr>
          <p:cNvPr id="12" name="Shape 8"/>
          <p:cNvSpPr/>
          <p:nvPr/>
        </p:nvSpPr>
        <p:spPr>
          <a:xfrm>
            <a:off x="3483864" y="1691640"/>
            <a:ext cx="274320" cy="228600"/>
          </a:xfrm>
          <a:prstGeom prst="rightArrow">
            <a:avLst/>
          </a:prstGeom>
          <a:solidFill>
            <a:schemeClr val="accent4"/>
          </a:solidFill>
          <a:ln w="12700">
            <a:solidFill>
              <a:schemeClr val="accent4"/>
            </a:solidFill>
            <a:prstDash val="solid"/>
          </a:ln>
        </p:spPr>
      </p:sp>
      <p:sp>
        <p:nvSpPr>
          <p:cNvPr id="13" name="Shape 9"/>
          <p:cNvSpPr/>
          <p:nvPr/>
        </p:nvSpPr>
        <p:spPr>
          <a:xfrm>
            <a:off x="4315968" y="1463040"/>
            <a:ext cx="685800" cy="68580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4466844" y="1613916"/>
            <a:ext cx="384048" cy="384048"/>
          </a:xfrm>
          <a:prstGeom prst="rect">
            <a:avLst/>
          </a:prstGeom>
        </p:spPr>
      </p:pic>
      <p:sp>
        <p:nvSpPr>
          <p:cNvPr id="15" name="Text 10"/>
          <p:cNvSpPr txBox="1"/>
          <p:nvPr/>
        </p:nvSpPr>
        <p:spPr>
          <a:xfrm>
            <a:off x="3858768" y="2331720"/>
            <a:ext cx="1600200" cy="36576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Clean</a:t>
            </a:r>
            <a:endParaRPr lang="en-US" sz="1600" dirty="0"/>
          </a:p>
        </p:txBody>
      </p:sp>
      <p:sp>
        <p:nvSpPr>
          <p:cNvPr id="16" name="Text 11"/>
          <p:cNvSpPr txBox="1"/>
          <p:nvPr/>
        </p:nvSpPr>
        <p:spPr>
          <a:xfrm>
            <a:off x="3858768" y="2697480"/>
            <a:ext cx="1600200" cy="822960"/>
          </a:xfrm>
          <a:prstGeom prst="rect">
            <a:avLst/>
          </a:prstGeom>
          <a:noFill/>
          <a:ln/>
        </p:spPr>
        <p:txBody>
          <a:bodyPr wrap="square" lIns="0" tIns="0" rIns="0" bIns="0" rtlCol="0" anchor="t"/>
          <a:lstStyle/>
          <a:p>
            <a:pPr algn="ctr" indent="0" marL="0">
              <a:buNone/>
            </a:pPr>
            <a:r>
              <a:rPr lang="en-US" sz="1300" dirty="0">
                <a:solidFill>
                  <a:schemeClr val="tx2"/>
                </a:solidFill>
              </a:rPr>
              <a:t>Duplicates and blurry crops removed</a:t>
            </a:r>
            <a:endParaRPr lang="en-US" sz="1300" dirty="0"/>
          </a:p>
        </p:txBody>
      </p:sp>
      <p:sp>
        <p:nvSpPr>
          <p:cNvPr id="17" name="Shape 12"/>
          <p:cNvSpPr/>
          <p:nvPr/>
        </p:nvSpPr>
        <p:spPr>
          <a:xfrm>
            <a:off x="5184648" y="1691640"/>
            <a:ext cx="274320" cy="228600"/>
          </a:xfrm>
          <a:prstGeom prst="rightArrow">
            <a:avLst/>
          </a:prstGeom>
          <a:solidFill>
            <a:schemeClr val="accent4"/>
          </a:solidFill>
          <a:ln w="12700">
            <a:solidFill>
              <a:schemeClr val="accent4"/>
            </a:solidFill>
            <a:prstDash val="solid"/>
          </a:ln>
        </p:spPr>
      </p:sp>
      <p:sp>
        <p:nvSpPr>
          <p:cNvPr id="18" name="Shape 13"/>
          <p:cNvSpPr/>
          <p:nvPr/>
        </p:nvSpPr>
        <p:spPr>
          <a:xfrm>
            <a:off x="6016752" y="1463040"/>
            <a:ext cx="685800" cy="685800"/>
          </a:xfrm>
          <a:prstGeom prst="ellipse">
            <a:avLst/>
          </a:prstGeom>
          <a:solidFill>
            <a:schemeClr val="accent1"/>
          </a:solidFill>
          <a:ln w="12700">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6167628" y="1613916"/>
            <a:ext cx="384048" cy="384048"/>
          </a:xfrm>
          <a:prstGeom prst="rect">
            <a:avLst/>
          </a:prstGeom>
        </p:spPr>
      </p:pic>
      <p:sp>
        <p:nvSpPr>
          <p:cNvPr id="20" name="Text 14"/>
          <p:cNvSpPr txBox="1"/>
          <p:nvPr/>
        </p:nvSpPr>
        <p:spPr>
          <a:xfrm>
            <a:off x="5559552" y="2331720"/>
            <a:ext cx="1600200" cy="36576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Train</a:t>
            </a:r>
            <a:endParaRPr lang="en-US" sz="1600" dirty="0"/>
          </a:p>
        </p:txBody>
      </p:sp>
      <p:sp>
        <p:nvSpPr>
          <p:cNvPr id="21" name="Text 15"/>
          <p:cNvSpPr txBox="1"/>
          <p:nvPr/>
        </p:nvSpPr>
        <p:spPr>
          <a:xfrm>
            <a:off x="5559552" y="2697480"/>
            <a:ext cx="1600200" cy="822960"/>
          </a:xfrm>
          <a:prstGeom prst="rect">
            <a:avLst/>
          </a:prstGeom>
          <a:noFill/>
          <a:ln/>
        </p:spPr>
        <p:txBody>
          <a:bodyPr wrap="square" lIns="0" tIns="0" rIns="0" bIns="0" rtlCol="0" anchor="t"/>
          <a:lstStyle/>
          <a:p>
            <a:pPr algn="ctr" indent="0" marL="0">
              <a:buNone/>
            </a:pPr>
            <a:r>
              <a:rPr lang="en-US" sz="1300" dirty="0">
                <a:solidFill>
                  <a:schemeClr val="tx2"/>
                </a:solidFill>
              </a:rPr>
              <a:t>Custom CNN, MobileNetV2, ResNet50</a:t>
            </a:r>
            <a:endParaRPr lang="en-US" sz="1300" dirty="0"/>
          </a:p>
        </p:txBody>
      </p:sp>
      <p:sp>
        <p:nvSpPr>
          <p:cNvPr id="22" name="Shape 16"/>
          <p:cNvSpPr/>
          <p:nvPr/>
        </p:nvSpPr>
        <p:spPr>
          <a:xfrm>
            <a:off x="6885432" y="1691640"/>
            <a:ext cx="274320" cy="228600"/>
          </a:xfrm>
          <a:prstGeom prst="rightArrow">
            <a:avLst/>
          </a:prstGeom>
          <a:solidFill>
            <a:schemeClr val="accent4"/>
          </a:solidFill>
          <a:ln w="12700">
            <a:solidFill>
              <a:schemeClr val="accent4"/>
            </a:solidFill>
            <a:prstDash val="solid"/>
          </a:ln>
        </p:spPr>
      </p:sp>
      <p:sp>
        <p:nvSpPr>
          <p:cNvPr id="23" name="Shape 17"/>
          <p:cNvSpPr/>
          <p:nvPr/>
        </p:nvSpPr>
        <p:spPr>
          <a:xfrm>
            <a:off x="7717536" y="1463040"/>
            <a:ext cx="685800" cy="685800"/>
          </a:xfrm>
          <a:prstGeom prst="ellipse">
            <a:avLst/>
          </a:prstGeom>
          <a:solidFill>
            <a:schemeClr val="accent1"/>
          </a:solidFill>
          <a:ln w="12700">
            <a:solidFill>
              <a:schemeClr val="accent1"/>
            </a:solidFill>
            <a:prstDash val="solid"/>
          </a:ln>
        </p:spPr>
      </p:sp>
      <p:pic>
        <p:nvPicPr>
          <p:cNvPr id="24" name="Image 4" descr="preencoded.png">    </p:cNvPr>
          <p:cNvPicPr>
            <a:picLocks noChangeAspect="1"/>
          </p:cNvPicPr>
          <p:nvPr/>
        </p:nvPicPr>
        <p:blipFill>
          <a:blip r:embed="rId5"/>
          <a:stretch>
            <a:fillRect/>
          </a:stretch>
        </p:blipFill>
        <p:spPr>
          <a:xfrm>
            <a:off x="7868412" y="1613916"/>
            <a:ext cx="384048" cy="384048"/>
          </a:xfrm>
          <a:prstGeom prst="rect">
            <a:avLst/>
          </a:prstGeom>
        </p:spPr>
      </p:pic>
      <p:sp>
        <p:nvSpPr>
          <p:cNvPr id="25" name="Text 18"/>
          <p:cNvSpPr txBox="1"/>
          <p:nvPr/>
        </p:nvSpPr>
        <p:spPr>
          <a:xfrm>
            <a:off x="7260336" y="2331720"/>
            <a:ext cx="1600200" cy="36576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Evaluate</a:t>
            </a:r>
            <a:endParaRPr lang="en-US" sz="1600" dirty="0"/>
          </a:p>
        </p:txBody>
      </p:sp>
      <p:sp>
        <p:nvSpPr>
          <p:cNvPr id="26" name="Text 19"/>
          <p:cNvSpPr txBox="1"/>
          <p:nvPr/>
        </p:nvSpPr>
        <p:spPr>
          <a:xfrm>
            <a:off x="7260336" y="2697480"/>
            <a:ext cx="1600200" cy="822960"/>
          </a:xfrm>
          <a:prstGeom prst="rect">
            <a:avLst/>
          </a:prstGeom>
          <a:noFill/>
          <a:ln/>
        </p:spPr>
        <p:txBody>
          <a:bodyPr wrap="square" lIns="0" tIns="0" rIns="0" bIns="0" rtlCol="0" anchor="t"/>
          <a:lstStyle/>
          <a:p>
            <a:pPr algn="ctr" indent="0" marL="0">
              <a:buNone/>
            </a:pPr>
            <a:r>
              <a:rPr lang="en-US" sz="1300" dirty="0">
                <a:solidFill>
                  <a:schemeClr val="tx2"/>
                </a:solidFill>
              </a:rPr>
              <a:t>Metrics, ROC, latency, Grad-CAM</a:t>
            </a:r>
            <a:endParaRPr lang="en-US" sz="1300" dirty="0"/>
          </a:p>
        </p:txBody>
      </p:sp>
      <p:sp>
        <p:nvSpPr>
          <p:cNvPr id="27" name="pipeline-note"/>
          <p:cNvSpPr/>
          <p:nvPr/>
        </p:nvSpPr>
        <p:spPr>
          <a:xfrm>
            <a:off x="457200" y="3703320"/>
            <a:ext cx="8229600" cy="777240"/>
          </a:xfrm>
          <a:prstGeom prst="roundRect">
            <a:avLst>
              <a:gd name="adj" fmla="val 9412"/>
            </a:avLst>
          </a:prstGeom>
          <a:solidFill>
            <a:schemeClr val="bg2"/>
          </a:solidFill>
          <a:ln w="12700">
            <a:solidFill>
              <a:schemeClr val="bg2"/>
            </a:solidFill>
            <a:prstDash val="solid"/>
          </a:ln>
        </p:spPr>
      </p:sp>
      <p:sp>
        <p:nvSpPr>
          <p:cNvPr id="28" name="Text 21"/>
          <p:cNvSpPr txBox="1"/>
          <p:nvPr/>
        </p:nvSpPr>
        <p:spPr>
          <a:xfrm>
            <a:off x="685800" y="3749040"/>
            <a:ext cx="7772400" cy="685800"/>
          </a:xfrm>
          <a:prstGeom prst="rect">
            <a:avLst/>
          </a:prstGeom>
          <a:noFill/>
          <a:ln/>
        </p:spPr>
        <p:txBody>
          <a:bodyPr wrap="square" lIns="0" tIns="0" rIns="0" bIns="0" rtlCol="0" anchor="ctr"/>
          <a:lstStyle/>
          <a:p>
            <a:pPr indent="0" marL="0">
              <a:buNone/>
            </a:pPr>
            <a:r>
              <a:rPr lang="en-US" sz="1400" b="1" dirty="0">
                <a:solidFill>
                  <a:schemeClr val="tx1"/>
                </a:solidFill>
              </a:rPr>
              <a:t>Framing: </a:t>
            </a:r>
            <a:pPr indent="0" marL="0">
              <a:buNone/>
            </a:pPr>
            <a:r>
              <a:rPr lang="en-US" sz="1400" dirty="0">
                <a:solidFill>
                  <a:schemeClr val="tx1"/>
                </a:solidFill>
              </a:rPr>
              <a:t>image classification, not detection. Heads are assumed already located, so the models only decide helmet vs no_helmet.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From 24,751 boxes to 17,044 clean crops</a:t>
            </a:r>
            <a:endParaRPr lang="en-US" sz="2800" dirty="0"/>
          </a:p>
        </p:txBody>
      </p:sp>
      <p:sp>
        <p:nvSpPr>
          <p:cNvPr id="3" name="Text 1"/>
          <p:cNvSpPr txBox="1"/>
          <p:nvPr/>
        </p:nvSpPr>
        <p:spPr>
          <a:xfrm>
            <a:off x="457200" y="1188720"/>
            <a:ext cx="14173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24,751</a:t>
            </a:r>
            <a:endParaRPr lang="en-US" sz="2400" dirty="0"/>
          </a:p>
        </p:txBody>
      </p:sp>
      <p:sp>
        <p:nvSpPr>
          <p:cNvPr id="4" name="Text 2"/>
          <p:cNvSpPr txBox="1"/>
          <p:nvPr/>
        </p:nvSpPr>
        <p:spPr>
          <a:xfrm>
            <a:off x="1920240" y="1188720"/>
            <a:ext cx="2286000" cy="502920"/>
          </a:xfrm>
          <a:prstGeom prst="rect">
            <a:avLst/>
          </a:prstGeom>
          <a:noFill/>
          <a:ln/>
        </p:spPr>
        <p:txBody>
          <a:bodyPr wrap="square" lIns="0" tIns="0" rIns="0" bIns="0" rtlCol="0" anchor="ctr"/>
          <a:lstStyle/>
          <a:p>
            <a:pPr indent="0" marL="0">
              <a:buNone/>
            </a:pPr>
            <a:r>
              <a:rPr lang="en-US" sz="1400" dirty="0">
                <a:solidFill>
                  <a:schemeClr val="tx2"/>
                </a:solidFill>
              </a:rPr>
              <a:t>helmet + head boxes</a:t>
            </a:r>
            <a:endParaRPr lang="en-US" sz="1400" dirty="0"/>
          </a:p>
        </p:txBody>
      </p:sp>
      <p:sp>
        <p:nvSpPr>
          <p:cNvPr id="5" name="Text 3"/>
          <p:cNvSpPr txBox="1"/>
          <p:nvPr/>
        </p:nvSpPr>
        <p:spPr>
          <a:xfrm>
            <a:off x="457200" y="1847088"/>
            <a:ext cx="14173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−7,673</a:t>
            </a:r>
            <a:endParaRPr lang="en-US" sz="2400" dirty="0"/>
          </a:p>
        </p:txBody>
      </p:sp>
      <p:sp>
        <p:nvSpPr>
          <p:cNvPr id="6" name="Text 4"/>
          <p:cNvSpPr txBox="1"/>
          <p:nvPr/>
        </p:nvSpPr>
        <p:spPr>
          <a:xfrm>
            <a:off x="1920240" y="1847088"/>
            <a:ext cx="2286000" cy="502920"/>
          </a:xfrm>
          <a:prstGeom prst="rect">
            <a:avLst/>
          </a:prstGeom>
          <a:noFill/>
          <a:ln/>
        </p:spPr>
        <p:txBody>
          <a:bodyPr wrap="square" lIns="0" tIns="0" rIns="0" bIns="0" rtlCol="0" anchor="ctr"/>
          <a:lstStyle/>
          <a:p>
            <a:pPr indent="0" marL="0">
              <a:buNone/>
            </a:pPr>
            <a:r>
              <a:rPr lang="en-US" sz="1400" dirty="0">
                <a:solidFill>
                  <a:schemeClr val="tx2"/>
                </a:solidFill>
              </a:rPr>
              <a:t>boxes under 20 px</a:t>
            </a:r>
            <a:endParaRPr lang="en-US" sz="1400" dirty="0"/>
          </a:p>
        </p:txBody>
      </p:sp>
      <p:sp>
        <p:nvSpPr>
          <p:cNvPr id="7" name="Text 5"/>
          <p:cNvSpPr txBox="1"/>
          <p:nvPr/>
        </p:nvSpPr>
        <p:spPr>
          <a:xfrm>
            <a:off x="457200" y="2505456"/>
            <a:ext cx="14173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17,078</a:t>
            </a:r>
            <a:endParaRPr lang="en-US" sz="2400" dirty="0"/>
          </a:p>
        </p:txBody>
      </p:sp>
      <p:sp>
        <p:nvSpPr>
          <p:cNvPr id="8" name="Text 6"/>
          <p:cNvSpPr txBox="1"/>
          <p:nvPr/>
        </p:nvSpPr>
        <p:spPr>
          <a:xfrm>
            <a:off x="1920240" y="2505456"/>
            <a:ext cx="2286000" cy="502920"/>
          </a:xfrm>
          <a:prstGeom prst="rect">
            <a:avLst/>
          </a:prstGeom>
          <a:noFill/>
          <a:ln/>
        </p:spPr>
        <p:txBody>
          <a:bodyPr wrap="square" lIns="0" tIns="0" rIns="0" bIns="0" rtlCol="0" anchor="ctr"/>
          <a:lstStyle/>
          <a:p>
            <a:pPr indent="0" marL="0">
              <a:buNone/>
            </a:pPr>
            <a:r>
              <a:rPr lang="en-US" sz="1400" dirty="0">
                <a:solidFill>
                  <a:schemeClr val="tx2"/>
                </a:solidFill>
              </a:rPr>
              <a:t>crops written</a:t>
            </a:r>
            <a:endParaRPr lang="en-US" sz="1400" dirty="0"/>
          </a:p>
        </p:txBody>
      </p:sp>
      <p:sp>
        <p:nvSpPr>
          <p:cNvPr id="9" name="Text 7"/>
          <p:cNvSpPr txBox="1"/>
          <p:nvPr/>
        </p:nvSpPr>
        <p:spPr>
          <a:xfrm>
            <a:off x="457200" y="3163824"/>
            <a:ext cx="14173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−34</a:t>
            </a:r>
            <a:endParaRPr lang="en-US" sz="2400" dirty="0"/>
          </a:p>
        </p:txBody>
      </p:sp>
      <p:sp>
        <p:nvSpPr>
          <p:cNvPr id="10" name="Text 8"/>
          <p:cNvSpPr txBox="1"/>
          <p:nvPr/>
        </p:nvSpPr>
        <p:spPr>
          <a:xfrm>
            <a:off x="1920240" y="3163824"/>
            <a:ext cx="2286000" cy="502920"/>
          </a:xfrm>
          <a:prstGeom prst="rect">
            <a:avLst/>
          </a:prstGeom>
          <a:noFill/>
          <a:ln/>
        </p:spPr>
        <p:txBody>
          <a:bodyPr wrap="square" lIns="0" tIns="0" rIns="0" bIns="0" rtlCol="0" anchor="ctr"/>
          <a:lstStyle/>
          <a:p>
            <a:pPr indent="0" marL="0">
              <a:buNone/>
            </a:pPr>
            <a:r>
              <a:rPr lang="en-US" sz="1400" dirty="0">
                <a:solidFill>
                  <a:schemeClr val="tx2"/>
                </a:solidFill>
              </a:rPr>
              <a:t>27 duplicates, 7 blurry</a:t>
            </a:r>
            <a:endParaRPr lang="en-US" sz="1400" dirty="0"/>
          </a:p>
        </p:txBody>
      </p:sp>
      <p:sp>
        <p:nvSpPr>
          <p:cNvPr id="11" name="Text 9"/>
          <p:cNvSpPr txBox="1"/>
          <p:nvPr/>
        </p:nvSpPr>
        <p:spPr>
          <a:xfrm>
            <a:off x="457200" y="3822192"/>
            <a:ext cx="1417320" cy="50292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17,044</a:t>
            </a:r>
            <a:endParaRPr lang="en-US" sz="2400" dirty="0"/>
          </a:p>
        </p:txBody>
      </p:sp>
      <p:sp>
        <p:nvSpPr>
          <p:cNvPr id="12" name="Text 10"/>
          <p:cNvSpPr txBox="1"/>
          <p:nvPr/>
        </p:nvSpPr>
        <p:spPr>
          <a:xfrm>
            <a:off x="1920240" y="3822192"/>
            <a:ext cx="2286000" cy="502920"/>
          </a:xfrm>
          <a:prstGeom prst="rect">
            <a:avLst/>
          </a:prstGeom>
          <a:noFill/>
          <a:ln/>
        </p:spPr>
        <p:txBody>
          <a:bodyPr wrap="square" lIns="0" tIns="0" rIns="0" bIns="0" rtlCol="0" anchor="ctr"/>
          <a:lstStyle/>
          <a:p>
            <a:pPr indent="0" marL="0">
              <a:buNone/>
            </a:pPr>
            <a:r>
              <a:rPr lang="en-US" sz="1400" dirty="0">
                <a:solidFill>
                  <a:schemeClr val="tx2"/>
                </a:solidFill>
              </a:rPr>
              <a:t>final dataset</a:t>
            </a:r>
            <a:endParaRPr lang="en-US" sz="1400" dirty="0"/>
          </a:p>
        </p:txBody>
      </p:sp>
      <p:graphicFrame>
        <p:nvGraphicFramePr>
          <p:cNvPr id="13" name="Chart 0" descr=""/>
          <p:cNvGraphicFramePr/>
          <p:nvPr/>
        </p:nvGraphicFramePr>
        <p:xfrm>
          <a:off x="4480560" y="109728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480560" y="4023360"/>
            <a:ext cx="4206240" cy="548640"/>
          </a:xfrm>
          <a:prstGeom prst="rect">
            <a:avLst/>
          </a:prstGeom>
          <a:noFill/>
          <a:ln/>
        </p:spPr>
        <p:txBody>
          <a:bodyPr wrap="square" lIns="0" tIns="0" rIns="0" bIns="0" rtlCol="0" anchor="ctr"/>
          <a:lstStyle/>
          <a:p>
            <a:pPr indent="0" marL="0">
              <a:buNone/>
            </a:pPr>
            <a:r>
              <a:rPr lang="en-US" sz="1300" b="1" dirty="0">
                <a:solidFill>
                  <a:schemeClr val="tx1"/>
                </a:solidFill>
              </a:rPr>
              <a:t>Imbalance 13,410 ÷ 3,634 = 3.69 : 1. </a:t>
            </a:r>
            <a:pPr indent="0" marL="0">
              <a:buNone/>
            </a:pPr>
            <a:r>
              <a:rPr lang="en-US" sz="1300" dirty="0">
                <a:solidFill>
                  <a:schemeClr val="tx1"/>
                </a:solidFill>
              </a:rPr>
              <a:t>An always-helmet model would already score 78.7% accuracy.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Split and augmentation</a:t>
            </a:r>
            <a:endParaRPr lang="en-US" sz="2800" dirty="0"/>
          </a:p>
        </p:txBody>
      </p:sp>
      <p:sp>
        <p:nvSpPr>
          <p:cNvPr id="3" name="split-0"/>
          <p:cNvSpPr/>
          <p:nvPr/>
        </p:nvSpPr>
        <p:spPr>
          <a:xfrm>
            <a:off x="457200" y="1188720"/>
            <a:ext cx="1463040" cy="1234440"/>
          </a:xfrm>
          <a:prstGeom prst="roundRect">
            <a:avLst>
              <a:gd name="adj" fmla="val 5926"/>
            </a:avLst>
          </a:prstGeom>
          <a:solidFill>
            <a:schemeClr val="bg2"/>
          </a:solidFill>
          <a:ln w="12700">
            <a:solidFill>
              <a:schemeClr val="bg2"/>
            </a:solidFill>
            <a:prstDash val="solid"/>
          </a:ln>
        </p:spPr>
      </p:sp>
      <p:sp>
        <p:nvSpPr>
          <p:cNvPr id="4" name="Text 2"/>
          <p:cNvSpPr txBox="1"/>
          <p:nvPr/>
        </p:nvSpPr>
        <p:spPr>
          <a:xfrm>
            <a:off x="594360" y="1298448"/>
            <a:ext cx="11887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11,931</a:t>
            </a:r>
            <a:endParaRPr lang="en-US" sz="2400" dirty="0"/>
          </a:p>
        </p:txBody>
      </p:sp>
      <p:sp>
        <p:nvSpPr>
          <p:cNvPr id="5" name="Text 3"/>
          <p:cNvSpPr txBox="1"/>
          <p:nvPr/>
        </p:nvSpPr>
        <p:spPr>
          <a:xfrm>
            <a:off x="594360" y="1828800"/>
            <a:ext cx="1188720" cy="411480"/>
          </a:xfrm>
          <a:prstGeom prst="rect">
            <a:avLst/>
          </a:prstGeom>
          <a:noFill/>
          <a:ln/>
        </p:spPr>
        <p:txBody>
          <a:bodyPr wrap="square" lIns="0" tIns="0" rIns="0" bIns="0" rtlCol="0" anchor="ctr"/>
          <a:lstStyle/>
          <a:p>
            <a:pPr indent="0" marL="0">
              <a:buNone/>
            </a:pPr>
            <a:r>
              <a:rPr lang="en-US" sz="1300" dirty="0">
                <a:solidFill>
                  <a:schemeClr val="tx2"/>
                </a:solidFill>
              </a:rPr>
              <a:t>train · 70%</a:t>
            </a:r>
            <a:endParaRPr lang="en-US" sz="1300" dirty="0"/>
          </a:p>
        </p:txBody>
      </p:sp>
      <p:sp>
        <p:nvSpPr>
          <p:cNvPr id="6" name="split-1"/>
          <p:cNvSpPr/>
          <p:nvPr/>
        </p:nvSpPr>
        <p:spPr>
          <a:xfrm>
            <a:off x="2057400" y="1188720"/>
            <a:ext cx="1463040" cy="1234440"/>
          </a:xfrm>
          <a:prstGeom prst="roundRect">
            <a:avLst>
              <a:gd name="adj" fmla="val 5926"/>
            </a:avLst>
          </a:prstGeom>
          <a:solidFill>
            <a:schemeClr val="bg2"/>
          </a:solidFill>
          <a:ln w="12700">
            <a:solidFill>
              <a:schemeClr val="bg2"/>
            </a:solidFill>
            <a:prstDash val="solid"/>
          </a:ln>
        </p:spPr>
      </p:sp>
      <p:sp>
        <p:nvSpPr>
          <p:cNvPr id="7" name="Text 5"/>
          <p:cNvSpPr txBox="1"/>
          <p:nvPr/>
        </p:nvSpPr>
        <p:spPr>
          <a:xfrm>
            <a:off x="2194560" y="1298448"/>
            <a:ext cx="11887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2,560</a:t>
            </a:r>
            <a:endParaRPr lang="en-US" sz="2400" dirty="0"/>
          </a:p>
        </p:txBody>
      </p:sp>
      <p:sp>
        <p:nvSpPr>
          <p:cNvPr id="8" name="Text 6"/>
          <p:cNvSpPr txBox="1"/>
          <p:nvPr/>
        </p:nvSpPr>
        <p:spPr>
          <a:xfrm>
            <a:off x="2194560" y="1828800"/>
            <a:ext cx="1188720" cy="411480"/>
          </a:xfrm>
          <a:prstGeom prst="rect">
            <a:avLst/>
          </a:prstGeom>
          <a:noFill/>
          <a:ln/>
        </p:spPr>
        <p:txBody>
          <a:bodyPr wrap="square" lIns="0" tIns="0" rIns="0" bIns="0" rtlCol="0" anchor="ctr"/>
          <a:lstStyle/>
          <a:p>
            <a:pPr indent="0" marL="0">
              <a:buNone/>
            </a:pPr>
            <a:r>
              <a:rPr lang="en-US" sz="1300" dirty="0">
                <a:solidFill>
                  <a:schemeClr val="tx2"/>
                </a:solidFill>
              </a:rPr>
              <a:t>validation · 15%</a:t>
            </a:r>
            <a:endParaRPr lang="en-US" sz="1300" dirty="0"/>
          </a:p>
        </p:txBody>
      </p:sp>
      <p:sp>
        <p:nvSpPr>
          <p:cNvPr id="9" name="split-2"/>
          <p:cNvSpPr/>
          <p:nvPr/>
        </p:nvSpPr>
        <p:spPr>
          <a:xfrm>
            <a:off x="3657600" y="1188720"/>
            <a:ext cx="146304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3794760" y="1298448"/>
            <a:ext cx="1188720" cy="50292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2,553</a:t>
            </a:r>
            <a:endParaRPr lang="en-US" sz="2400" dirty="0"/>
          </a:p>
        </p:txBody>
      </p:sp>
      <p:sp>
        <p:nvSpPr>
          <p:cNvPr id="11" name="Text 9"/>
          <p:cNvSpPr txBox="1"/>
          <p:nvPr/>
        </p:nvSpPr>
        <p:spPr>
          <a:xfrm>
            <a:off x="3794760" y="1828800"/>
            <a:ext cx="1188720" cy="411480"/>
          </a:xfrm>
          <a:prstGeom prst="rect">
            <a:avLst/>
          </a:prstGeom>
          <a:noFill/>
          <a:ln/>
        </p:spPr>
        <p:txBody>
          <a:bodyPr wrap="square" lIns="0" tIns="0" rIns="0" bIns="0" rtlCol="0" anchor="ctr"/>
          <a:lstStyle/>
          <a:p>
            <a:pPr indent="0" marL="0">
              <a:buNone/>
            </a:pPr>
            <a:r>
              <a:rPr lang="en-US" sz="1300" dirty="0">
                <a:solidFill>
                  <a:schemeClr val="tx2"/>
                </a:solidFill>
              </a:rPr>
              <a:t>test · 15%</a:t>
            </a:r>
            <a:endParaRPr lang="en-US" sz="1300" dirty="0"/>
          </a:p>
        </p:txBody>
      </p:sp>
      <p:sp>
        <p:nvSpPr>
          <p:cNvPr id="12" name="Text 10"/>
          <p:cNvSpPr txBox="1"/>
          <p:nvPr/>
        </p:nvSpPr>
        <p:spPr>
          <a:xfrm>
            <a:off x="457200" y="2697480"/>
            <a:ext cx="45720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160 × 160 input, batch size 32, seed 42</a:t>
            </a:r>
            <a:endParaRPr lang="en-US" sz="1400" dirty="0"/>
          </a:p>
          <a:p>
            <a:pPr marL="342900" indent="-342900">
              <a:spcAft>
                <a:spcPts val="800"/>
              </a:spcAft>
              <a:buSzPct val="100000"/>
              <a:buChar char="•"/>
            </a:pPr>
            <a:r>
              <a:rPr lang="en-US" sz="1400" dirty="0">
                <a:solidFill>
                  <a:schemeClr val="tx1"/>
                </a:solidFill>
              </a:rPr>
              <a:t>Horizontal flip, ±5% rotation, ±15% brightness and contrast</a:t>
            </a:r>
            <a:endParaRPr lang="en-US" sz="1400" dirty="0"/>
          </a:p>
          <a:p>
            <a:pPr marL="342900" indent="-342900">
              <a:spcAft>
                <a:spcPts val="800"/>
              </a:spcAft>
              <a:buSzPct val="100000"/>
              <a:buChar char="•"/>
            </a:pPr>
            <a:r>
              <a:rPr lang="en-US" sz="1400" dirty="0">
                <a:solidFill>
                  <a:schemeClr val="tx1"/>
                </a:solidFill>
              </a:rPr>
              <a:t>No vertical flip: an upside-down worker is not a realistic view</a:t>
            </a:r>
            <a:endParaRPr lang="en-US" sz="1400" dirty="0"/>
          </a:p>
        </p:txBody>
      </p:sp>
      <p:pic>
        <p:nvPicPr>
          <p:cNvPr id="13" name="Image 0" descr="Nine augmented training crops labelled helmet or no_helmet">    </p:cNvPr>
          <p:cNvPicPr>
            <a:picLocks noChangeAspect="1"/>
          </p:cNvPicPr>
          <p:nvPr/>
        </p:nvPicPr>
        <p:blipFill>
          <a:blip r:embed="rId1"/>
          <a:stretch>
            <a:fillRect/>
          </a:stretch>
        </p:blipFill>
        <p:spPr>
          <a:xfrm>
            <a:off x="5349240" y="1097280"/>
            <a:ext cx="3214731" cy="333756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Three models compared</a:t>
            </a:r>
            <a:endParaRPr lang="en-US" sz="2800" dirty="0"/>
          </a:p>
        </p:txBody>
      </p:sp>
      <p:sp>
        <p:nvSpPr>
          <p:cNvPr id="3" name="model-0"/>
          <p:cNvSpPr/>
          <p:nvPr/>
        </p:nvSpPr>
        <p:spPr>
          <a:xfrm>
            <a:off x="457200" y="1188720"/>
            <a:ext cx="2606040" cy="2743200"/>
          </a:xfrm>
          <a:prstGeom prst="roundRect">
            <a:avLst>
              <a:gd name="adj" fmla="val 2807"/>
            </a:avLst>
          </a:prstGeom>
          <a:solidFill>
            <a:schemeClr val="bg2"/>
          </a:solidFill>
          <a:ln w="12700">
            <a:solidFill>
              <a:schemeClr val="bg2"/>
            </a:solidFill>
            <a:prstDash val="solid"/>
          </a:ln>
        </p:spPr>
      </p:sp>
      <p:sp>
        <p:nvSpPr>
          <p:cNvPr id="4" name="Shape 2"/>
          <p:cNvSpPr/>
          <p:nvPr/>
        </p:nvSpPr>
        <p:spPr>
          <a:xfrm>
            <a:off x="731520" y="137160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42162" y="1482242"/>
            <a:ext cx="281635" cy="281635"/>
          </a:xfrm>
          <a:prstGeom prst="rect">
            <a:avLst/>
          </a:prstGeom>
        </p:spPr>
      </p:pic>
      <p:sp>
        <p:nvSpPr>
          <p:cNvPr id="6" name="Text 3"/>
          <p:cNvSpPr txBox="1"/>
          <p:nvPr/>
        </p:nvSpPr>
        <p:spPr>
          <a:xfrm>
            <a:off x="1371600" y="1371600"/>
            <a:ext cx="1600200" cy="5029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Custom CNN</a:t>
            </a:r>
            <a:endParaRPr lang="en-US" sz="1700" dirty="0"/>
          </a:p>
        </p:txBody>
      </p:sp>
      <p:sp>
        <p:nvSpPr>
          <p:cNvPr id="7" name="Text 4"/>
          <p:cNvSpPr txBox="1"/>
          <p:nvPr/>
        </p:nvSpPr>
        <p:spPr>
          <a:xfrm>
            <a:off x="731520" y="2011680"/>
            <a:ext cx="2194560" cy="45720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258,881</a:t>
            </a:r>
            <a:endParaRPr lang="en-US" sz="2200" dirty="0"/>
          </a:p>
        </p:txBody>
      </p:sp>
      <p:sp>
        <p:nvSpPr>
          <p:cNvPr id="8" name="Text 5"/>
          <p:cNvSpPr txBox="1"/>
          <p:nvPr/>
        </p:nvSpPr>
        <p:spPr>
          <a:xfrm>
            <a:off x="731520" y="2450592"/>
            <a:ext cx="2194560" cy="274320"/>
          </a:xfrm>
          <a:prstGeom prst="rect">
            <a:avLst/>
          </a:prstGeom>
          <a:noFill/>
          <a:ln/>
        </p:spPr>
        <p:txBody>
          <a:bodyPr wrap="square" lIns="0" tIns="0" rIns="0" bIns="0" rtlCol="0" anchor="ctr"/>
          <a:lstStyle/>
          <a:p>
            <a:pPr indent="0" marL="0">
              <a:buNone/>
            </a:pPr>
            <a:r>
              <a:rPr lang="en-US" sz="1100" dirty="0">
                <a:solidFill>
                  <a:schemeClr val="accent4"/>
                </a:solidFill>
              </a:rPr>
              <a:t>parameters</a:t>
            </a:r>
            <a:endParaRPr lang="en-US" sz="1100" dirty="0"/>
          </a:p>
        </p:txBody>
      </p:sp>
      <p:sp>
        <p:nvSpPr>
          <p:cNvPr id="9" name="Text 6"/>
          <p:cNvSpPr txBox="1"/>
          <p:nvPr/>
        </p:nvSpPr>
        <p:spPr>
          <a:xfrm>
            <a:off x="731520" y="2788920"/>
            <a:ext cx="2148840" cy="1051560"/>
          </a:xfrm>
          <a:prstGeom prst="rect">
            <a:avLst/>
          </a:prstGeom>
          <a:noFill/>
          <a:ln/>
        </p:spPr>
        <p:txBody>
          <a:bodyPr wrap="square" lIns="0" tIns="0" rIns="0" bIns="0" rtlCol="0" anchor="t"/>
          <a:lstStyle/>
          <a:p>
            <a:pPr indent="0" marL="0">
              <a:buNone/>
            </a:pPr>
            <a:r>
              <a:rPr lang="en-US" sz="1300" dirty="0">
                <a:solidFill>
                  <a:schemeClr val="tx2"/>
                </a:solidFill>
              </a:rPr>
              <a:t>4 × (Conv → BN → MaxPool), GAP, Dense 128, dropout 0.4. Trained from scratch on [0, 1] input.</a:t>
            </a:r>
            <a:endParaRPr lang="en-US" sz="1300" dirty="0"/>
          </a:p>
        </p:txBody>
      </p:sp>
      <p:sp>
        <p:nvSpPr>
          <p:cNvPr id="10" name="model-1"/>
          <p:cNvSpPr/>
          <p:nvPr/>
        </p:nvSpPr>
        <p:spPr>
          <a:xfrm>
            <a:off x="3273552" y="1188720"/>
            <a:ext cx="2606040" cy="2743200"/>
          </a:xfrm>
          <a:prstGeom prst="roundRect">
            <a:avLst>
              <a:gd name="adj" fmla="val 2807"/>
            </a:avLst>
          </a:prstGeom>
          <a:solidFill>
            <a:schemeClr val="bg2"/>
          </a:solidFill>
          <a:ln w="12700">
            <a:solidFill>
              <a:schemeClr val="bg2"/>
            </a:solidFill>
            <a:prstDash val="solid"/>
          </a:ln>
        </p:spPr>
      </p:sp>
      <p:sp>
        <p:nvSpPr>
          <p:cNvPr id="11" name="Shape 8"/>
          <p:cNvSpPr/>
          <p:nvPr/>
        </p:nvSpPr>
        <p:spPr>
          <a:xfrm>
            <a:off x="3547872" y="1371600"/>
            <a:ext cx="502920" cy="5029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658514" y="1482242"/>
            <a:ext cx="281635" cy="281635"/>
          </a:xfrm>
          <a:prstGeom prst="rect">
            <a:avLst/>
          </a:prstGeom>
        </p:spPr>
      </p:pic>
      <p:sp>
        <p:nvSpPr>
          <p:cNvPr id="13" name="Text 9"/>
          <p:cNvSpPr txBox="1"/>
          <p:nvPr/>
        </p:nvSpPr>
        <p:spPr>
          <a:xfrm>
            <a:off x="4187952" y="1371600"/>
            <a:ext cx="1600200" cy="5029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MobileNetV2</a:t>
            </a:r>
            <a:endParaRPr lang="en-US" sz="1700" dirty="0"/>
          </a:p>
        </p:txBody>
      </p:sp>
      <p:sp>
        <p:nvSpPr>
          <p:cNvPr id="14" name="Text 10"/>
          <p:cNvSpPr txBox="1"/>
          <p:nvPr/>
        </p:nvSpPr>
        <p:spPr>
          <a:xfrm>
            <a:off x="3547872" y="2011680"/>
            <a:ext cx="2194560" cy="45720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2,259,265</a:t>
            </a:r>
            <a:endParaRPr lang="en-US" sz="2200" dirty="0"/>
          </a:p>
        </p:txBody>
      </p:sp>
      <p:sp>
        <p:nvSpPr>
          <p:cNvPr id="15" name="Text 11"/>
          <p:cNvSpPr txBox="1"/>
          <p:nvPr/>
        </p:nvSpPr>
        <p:spPr>
          <a:xfrm>
            <a:off x="3547872" y="2450592"/>
            <a:ext cx="2194560" cy="274320"/>
          </a:xfrm>
          <a:prstGeom prst="rect">
            <a:avLst/>
          </a:prstGeom>
          <a:noFill/>
          <a:ln/>
        </p:spPr>
        <p:txBody>
          <a:bodyPr wrap="square" lIns="0" tIns="0" rIns="0" bIns="0" rtlCol="0" anchor="ctr"/>
          <a:lstStyle/>
          <a:p>
            <a:pPr indent="0" marL="0">
              <a:buNone/>
            </a:pPr>
            <a:r>
              <a:rPr lang="en-US" sz="1100" dirty="0">
                <a:solidFill>
                  <a:schemeClr val="accent4"/>
                </a:solidFill>
              </a:rPr>
              <a:t>parameters</a:t>
            </a:r>
            <a:endParaRPr lang="en-US" sz="1100" dirty="0"/>
          </a:p>
        </p:txBody>
      </p:sp>
      <p:sp>
        <p:nvSpPr>
          <p:cNvPr id="16" name="Text 12"/>
          <p:cNvSpPr txBox="1"/>
          <p:nvPr/>
        </p:nvSpPr>
        <p:spPr>
          <a:xfrm>
            <a:off x="3547872" y="2788920"/>
            <a:ext cx="2148840" cy="1051560"/>
          </a:xfrm>
          <a:prstGeom prst="rect">
            <a:avLst/>
          </a:prstGeom>
          <a:noFill/>
          <a:ln/>
        </p:spPr>
        <p:txBody>
          <a:bodyPr wrap="square" lIns="0" tIns="0" rIns="0" bIns="0" rtlCol="0" anchor="t"/>
          <a:lstStyle/>
          <a:p>
            <a:pPr indent="0" marL="0">
              <a:buNone/>
            </a:pPr>
            <a:r>
              <a:rPr lang="en-US" sz="1300" dirty="0">
                <a:solidFill>
                  <a:schemeClr val="tx2"/>
                </a:solidFill>
              </a:rPr>
              <a:t>ImageNet backbone, frozen. New head: GAP, dropout 0.3, sigmoid output.</a:t>
            </a:r>
            <a:endParaRPr lang="en-US" sz="1300" dirty="0"/>
          </a:p>
        </p:txBody>
      </p:sp>
      <p:sp>
        <p:nvSpPr>
          <p:cNvPr id="17" name="model-2"/>
          <p:cNvSpPr/>
          <p:nvPr/>
        </p:nvSpPr>
        <p:spPr>
          <a:xfrm>
            <a:off x="6089904" y="1188720"/>
            <a:ext cx="2606040" cy="2743200"/>
          </a:xfrm>
          <a:prstGeom prst="roundRect">
            <a:avLst>
              <a:gd name="adj" fmla="val 2807"/>
            </a:avLst>
          </a:prstGeom>
          <a:solidFill>
            <a:schemeClr val="bg2"/>
          </a:solidFill>
          <a:ln w="12700">
            <a:solidFill>
              <a:schemeClr val="bg2"/>
            </a:solidFill>
            <a:prstDash val="solid"/>
          </a:ln>
        </p:spPr>
      </p:sp>
      <p:sp>
        <p:nvSpPr>
          <p:cNvPr id="18" name="Shape 14"/>
          <p:cNvSpPr/>
          <p:nvPr/>
        </p:nvSpPr>
        <p:spPr>
          <a:xfrm>
            <a:off x="6364224" y="1371600"/>
            <a:ext cx="502920" cy="50292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6474866" y="1482242"/>
            <a:ext cx="281635" cy="281635"/>
          </a:xfrm>
          <a:prstGeom prst="rect">
            <a:avLst/>
          </a:prstGeom>
        </p:spPr>
      </p:pic>
      <p:sp>
        <p:nvSpPr>
          <p:cNvPr id="20" name="Text 15"/>
          <p:cNvSpPr txBox="1"/>
          <p:nvPr/>
        </p:nvSpPr>
        <p:spPr>
          <a:xfrm>
            <a:off x="7004304" y="1371600"/>
            <a:ext cx="1600200" cy="5029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ResNet50</a:t>
            </a:r>
            <a:endParaRPr lang="en-US" sz="1700" dirty="0"/>
          </a:p>
        </p:txBody>
      </p:sp>
      <p:sp>
        <p:nvSpPr>
          <p:cNvPr id="21" name="Text 16"/>
          <p:cNvSpPr txBox="1"/>
          <p:nvPr/>
        </p:nvSpPr>
        <p:spPr>
          <a:xfrm>
            <a:off x="6364224" y="2011680"/>
            <a:ext cx="2194560" cy="45720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23,589,761</a:t>
            </a:r>
            <a:endParaRPr lang="en-US" sz="2200" dirty="0"/>
          </a:p>
        </p:txBody>
      </p:sp>
      <p:sp>
        <p:nvSpPr>
          <p:cNvPr id="22" name="Text 17"/>
          <p:cNvSpPr txBox="1"/>
          <p:nvPr/>
        </p:nvSpPr>
        <p:spPr>
          <a:xfrm>
            <a:off x="6364224" y="2450592"/>
            <a:ext cx="2194560" cy="274320"/>
          </a:xfrm>
          <a:prstGeom prst="rect">
            <a:avLst/>
          </a:prstGeom>
          <a:noFill/>
          <a:ln/>
        </p:spPr>
        <p:txBody>
          <a:bodyPr wrap="square" lIns="0" tIns="0" rIns="0" bIns="0" rtlCol="0" anchor="ctr"/>
          <a:lstStyle/>
          <a:p>
            <a:pPr indent="0" marL="0">
              <a:buNone/>
            </a:pPr>
            <a:r>
              <a:rPr lang="en-US" sz="1100" dirty="0">
                <a:solidFill>
                  <a:schemeClr val="accent4"/>
                </a:solidFill>
              </a:rPr>
              <a:t>parameters</a:t>
            </a:r>
            <a:endParaRPr lang="en-US" sz="1100" dirty="0"/>
          </a:p>
        </p:txBody>
      </p:sp>
      <p:sp>
        <p:nvSpPr>
          <p:cNvPr id="23" name="Text 18"/>
          <p:cNvSpPr txBox="1"/>
          <p:nvPr/>
        </p:nvSpPr>
        <p:spPr>
          <a:xfrm>
            <a:off x="6364224" y="2788920"/>
            <a:ext cx="2148840" cy="1051560"/>
          </a:xfrm>
          <a:prstGeom prst="rect">
            <a:avLst/>
          </a:prstGeom>
          <a:noFill/>
          <a:ln/>
        </p:spPr>
        <p:txBody>
          <a:bodyPr wrap="square" lIns="0" tIns="0" rIns="0" bIns="0" rtlCol="0" anchor="t"/>
          <a:lstStyle/>
          <a:p>
            <a:pPr indent="0" marL="0">
              <a:buNone/>
            </a:pPr>
            <a:r>
              <a:rPr lang="en-US" sz="1300" dirty="0">
                <a:solidFill>
                  <a:schemeClr val="tx2"/>
                </a:solidFill>
              </a:rPr>
              <a:t>ImageNet backbone, frozen. Same head as MobileNetV2.</a:t>
            </a:r>
            <a:endParaRPr lang="en-US" sz="1300" dirty="0"/>
          </a:p>
        </p:txBody>
      </p:sp>
      <p:sp>
        <p:nvSpPr>
          <p:cNvPr id="24" name="Text 19"/>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chemeClr val="tx2"/>
                </a:solidFill>
              </a:rPr>
              <a:t>All models: binary cross-entropy, Adam (lr 1e-3), early stopping on val_loss (patience 5), 2 epochs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Training: two epochs per model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297680" cy="914400"/>
        </p:xfrm>
        <a:graphic>
          <a:graphicData uri="http://schemas.openxmlformats.org/drawingml/2006/table">
            <a:tbl>
              <a:tblPr/>
              <a:tblGrid>
                <a:gridCol w="1143000"/>
                <a:gridCol w="548640"/>
                <a:gridCol w="868680"/>
                <a:gridCol w="868680"/>
                <a:gridCol w="8686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F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Epoch</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F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 acc</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F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 acc</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F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 loss</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F2328"/>
                    </a:solidFill>
                  </a:tcPr>
                </a:tc>
              </a:tr>
              <a:tr h="36576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Custom CNN</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0.8655</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0.7988</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0.3884</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65760">
                <a:tc>
                  <a:txBody>
                    <a:bodyPr/>
                    <a:lstStyle/>
                    <a:p>
                      <a:pPr indent="0" marL="0">
                        <a:buNone/>
                      </a:pP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0.9195</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b="1" dirty="0">
                          <a:solidFill>
                            <a:srgbClr val="1F2328"/>
                          </a:solidFill>
                          <a:latin typeface="Calibri" pitchFamily="34" charset="0"/>
                          <a:ea typeface="Calibri" pitchFamily="34" charset="-122"/>
                          <a:cs typeface="Calibri" pitchFamily="34" charset="-120"/>
                        </a:rPr>
                        <a:t>0.9453</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0.1526</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6576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MobileNetV2</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0.9129</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0.9668</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0.1044</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65760">
                <a:tc>
                  <a:txBody>
                    <a:bodyPr/>
                    <a:lstStyle/>
                    <a:p>
                      <a:pPr indent="0" marL="0">
                        <a:buNone/>
                      </a:pP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0.9492</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b="1" dirty="0">
                          <a:solidFill>
                            <a:srgbClr val="1F2328"/>
                          </a:solidFill>
                          <a:latin typeface="Calibri" pitchFamily="34" charset="0"/>
                          <a:ea typeface="Calibri" pitchFamily="34" charset="-122"/>
                          <a:cs typeface="Calibri" pitchFamily="34" charset="-120"/>
                        </a:rPr>
                        <a:t>0.9684</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0.0910</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6576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0.9411</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b="1" dirty="0">
                          <a:solidFill>
                            <a:srgbClr val="1F2328"/>
                          </a:solidFill>
                          <a:latin typeface="Calibri" pitchFamily="34" charset="0"/>
                          <a:ea typeface="Calibri" pitchFamily="34" charset="-122"/>
                          <a:cs typeface="Calibri" pitchFamily="34" charset="-120"/>
                        </a:rPr>
                        <a:t>0.9750</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0.0771</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65760">
                <a:tc>
                  <a:txBody>
                    <a:bodyPr/>
                    <a:lstStyle/>
                    <a:p>
                      <a:pPr indent="0" marL="0">
                        <a:buNone/>
                      </a:pP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gridSpan="3">
                  <a:txBody>
                    <a:bodyPr/>
                    <a:lstStyle/>
                    <a:p>
                      <a:pPr indent="0" marL="0">
                        <a:buNone/>
                      </a:pPr>
                      <a:r>
                        <a:rPr lang="en-US" sz="1200" i="1" dirty="0">
                          <a:solidFill>
                            <a:srgbClr val="C92A2A"/>
                          </a:solidFill>
                          <a:latin typeface="Calibri" pitchFamily="34" charset="0"/>
                          <a:ea typeface="Calibri" pitchFamily="34" charset="-122"/>
                          <a:cs typeface="Calibri" pitchFamily="34" charset="-120"/>
                        </a:rPr>
                        <a:t>interrupted before validation</a:t>
                      </a:r>
                      <a:endParaRPr lang="en-US" sz="1200" dirty="0">
                        <a:latin typeface="Calibri" charset="0"/>
                        <a:ea typeface="Calibri" charset="0"/>
                        <a:cs typeface="Calibri" charset="0"/>
                      </a:endParaRPr>
                    </a:p>
                  </a:txBody>
                  <a:tcPr marL="45720" marR="4572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hMerge="1">
                  <a:tcPr/>
                </a:tc>
                <a:tc hMerge="1">
                  <a:tcPr/>
                </a:tc>
              </a:tr>
            </a:tbl>
          </a:graphicData>
        </a:graphic>
      </p:graphicFrame>
      <p:pic>
        <p:nvPicPr>
          <p:cNvPr id="4" name="Image 0" descr="Custom CNN loss and accuracy curves">    </p:cNvPr>
          <p:cNvPicPr>
            <a:picLocks noChangeAspect="1"/>
          </p:cNvPicPr>
          <p:nvPr/>
        </p:nvPicPr>
        <p:blipFill>
          <a:blip r:embed="rId1"/>
          <a:stretch>
            <a:fillRect/>
          </a:stretch>
        </p:blipFill>
        <p:spPr>
          <a:xfrm>
            <a:off x="4983480" y="1143000"/>
            <a:ext cx="3703320" cy="1460359"/>
          </a:xfrm>
          <a:prstGeom prst="rect">
            <a:avLst/>
          </a:prstGeom>
        </p:spPr>
      </p:pic>
      <p:pic>
        <p:nvPicPr>
          <p:cNvPr id="5" name="Image 1" descr="MobileNetV2 loss and accuracy curves">    </p:cNvPr>
          <p:cNvPicPr>
            <a:picLocks noChangeAspect="1"/>
          </p:cNvPicPr>
          <p:nvPr/>
        </p:nvPicPr>
        <p:blipFill>
          <a:blip r:embed="rId2"/>
          <a:stretch>
            <a:fillRect/>
          </a:stretch>
        </p:blipFill>
        <p:spPr>
          <a:xfrm>
            <a:off x="4983480" y="2697480"/>
            <a:ext cx="3703320" cy="1460359"/>
          </a:xfrm>
          <a:prstGeom prst="rect">
            <a:avLst/>
          </a:prstGeom>
        </p:spPr>
      </p:pic>
      <p:sp>
        <p:nvSpPr>
          <p:cNvPr id="6" name="Text 1"/>
          <p:cNvSpPr txBox="1"/>
          <p:nvPr/>
        </p:nvSpPr>
        <p:spPr>
          <a:xfrm>
            <a:off x="457200" y="4023360"/>
            <a:ext cx="4297680" cy="548640"/>
          </a:xfrm>
          <a:prstGeom prst="rect">
            <a:avLst/>
          </a:prstGeom>
          <a:noFill/>
          <a:ln/>
        </p:spPr>
        <p:txBody>
          <a:bodyPr wrap="square" lIns="0" tIns="0" rIns="0" bIns="0" rtlCol="0" anchor="ctr"/>
          <a:lstStyle/>
          <a:p>
            <a:pPr indent="0" marL="0">
              <a:buNone/>
            </a:pPr>
            <a:r>
              <a:rPr lang="en-US" sz="1300" dirty="0">
                <a:solidFill>
                  <a:schemeClr val="tx1"/>
                </a:solidFill>
              </a:rPr>
              <a:t>Custom CNN validation accuracy jumped 79.9% → 94.5% in one epoch, and was still rising.</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Test results: MobileNetV2 leads on every metric</a:t>
            </a:r>
            <a:endParaRPr lang="en-US" sz="2800" dirty="0"/>
          </a:p>
        </p:txBody>
      </p:sp>
      <p:sp>
        <p:nvSpPr>
          <p:cNvPr id="3" name="Text 1"/>
          <p:cNvSpPr txBox="1"/>
          <p:nvPr/>
        </p:nvSpPr>
        <p:spPr>
          <a:xfrm>
            <a:off x="457200" y="1143000"/>
            <a:ext cx="2377440" cy="68580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97.3%</a:t>
            </a:r>
            <a:endParaRPr lang="en-US" sz="4000" dirty="0"/>
          </a:p>
        </p:txBody>
      </p:sp>
      <p:sp>
        <p:nvSpPr>
          <p:cNvPr id="4" name="Text 2"/>
          <p:cNvSpPr txBox="1"/>
          <p:nvPr/>
        </p:nvSpPr>
        <p:spPr>
          <a:xfrm>
            <a:off x="457200" y="1801368"/>
            <a:ext cx="2377440" cy="320040"/>
          </a:xfrm>
          <a:prstGeom prst="rect">
            <a:avLst/>
          </a:prstGeom>
          <a:noFill/>
          <a:ln/>
        </p:spPr>
        <p:txBody>
          <a:bodyPr wrap="square" lIns="0" tIns="0" rIns="0" bIns="0" rtlCol="0" anchor="ctr"/>
          <a:lstStyle/>
          <a:p>
            <a:pPr indent="0" marL="0">
              <a:buNone/>
            </a:pPr>
            <a:r>
              <a:rPr lang="en-US" sz="1300" dirty="0">
                <a:solidFill>
                  <a:schemeClr val="tx2"/>
                </a:solidFill>
              </a:rPr>
              <a:t>MobileNetV2 accuracy</a:t>
            </a:r>
            <a:endParaRPr lang="en-US" sz="1300" dirty="0"/>
          </a:p>
        </p:txBody>
      </p:sp>
      <p:sp>
        <p:nvSpPr>
          <p:cNvPr id="5" name="Text 3"/>
          <p:cNvSpPr txBox="1"/>
          <p:nvPr/>
        </p:nvSpPr>
        <p:spPr>
          <a:xfrm>
            <a:off x="457200" y="2258568"/>
            <a:ext cx="2377440" cy="68580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0.933</a:t>
            </a:r>
            <a:endParaRPr lang="en-US" sz="4000" dirty="0"/>
          </a:p>
        </p:txBody>
      </p:sp>
      <p:sp>
        <p:nvSpPr>
          <p:cNvPr id="6" name="Text 4"/>
          <p:cNvSpPr txBox="1"/>
          <p:nvPr/>
        </p:nvSpPr>
        <p:spPr>
          <a:xfrm>
            <a:off x="457200" y="2916936"/>
            <a:ext cx="2377440" cy="320040"/>
          </a:xfrm>
          <a:prstGeom prst="rect">
            <a:avLst/>
          </a:prstGeom>
          <a:noFill/>
          <a:ln/>
        </p:spPr>
        <p:txBody>
          <a:bodyPr wrap="square" lIns="0" tIns="0" rIns="0" bIns="0" rtlCol="0" anchor="ctr"/>
          <a:lstStyle/>
          <a:p>
            <a:pPr indent="0" marL="0">
              <a:buNone/>
            </a:pPr>
            <a:r>
              <a:rPr lang="en-US" sz="1300" dirty="0">
                <a:solidFill>
                  <a:schemeClr val="tx2"/>
                </a:solidFill>
              </a:rPr>
              <a:t>MobileNetV2 F1</a:t>
            </a:r>
            <a:endParaRPr lang="en-US" sz="1300" dirty="0"/>
          </a:p>
        </p:txBody>
      </p:sp>
      <p:sp>
        <p:nvSpPr>
          <p:cNvPr id="7" name="Text 5"/>
          <p:cNvSpPr txBox="1"/>
          <p:nvPr/>
        </p:nvSpPr>
        <p:spPr>
          <a:xfrm>
            <a:off x="457200" y="3374136"/>
            <a:ext cx="2377440" cy="68580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94.4%</a:t>
            </a:r>
            <a:endParaRPr lang="en-US" sz="4000" dirty="0"/>
          </a:p>
        </p:txBody>
      </p:sp>
      <p:sp>
        <p:nvSpPr>
          <p:cNvPr id="8" name="Text 6"/>
          <p:cNvSpPr txBox="1"/>
          <p:nvPr/>
        </p:nvSpPr>
        <p:spPr>
          <a:xfrm>
            <a:off x="457200" y="4032504"/>
            <a:ext cx="2377440" cy="320040"/>
          </a:xfrm>
          <a:prstGeom prst="rect">
            <a:avLst/>
          </a:prstGeom>
          <a:noFill/>
          <a:ln/>
        </p:spPr>
        <p:txBody>
          <a:bodyPr wrap="square" lIns="0" tIns="0" rIns="0" bIns="0" rtlCol="0" anchor="ctr"/>
          <a:lstStyle/>
          <a:p>
            <a:pPr indent="0" marL="0">
              <a:buNone/>
            </a:pPr>
            <a:r>
              <a:rPr lang="en-US" sz="1300" dirty="0">
                <a:solidFill>
                  <a:schemeClr val="tx2"/>
                </a:solidFill>
              </a:rPr>
              <a:t>Custom CNN accuracy</a:t>
            </a:r>
            <a:endParaRPr lang="en-US" sz="1300" dirty="0"/>
          </a:p>
        </p:txBody>
      </p:sp>
      <p:graphicFrame>
        <p:nvGraphicFramePr>
          <p:cNvPr id="9" name="Chart 0" descr=""/>
          <p:cNvGraphicFramePr/>
          <p:nvPr/>
        </p:nvGraphicFramePr>
        <p:xfrm>
          <a:off x="301752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Where the errors fall</a:t>
            </a:r>
            <a:endParaRPr lang="en-US" sz="2800" dirty="0"/>
          </a:p>
        </p:txBody>
      </p:sp>
      <p:pic>
        <p:nvPicPr>
          <p:cNvPr id="3" name="Image 0" descr="Confusion matrices for custom CNN and MobileNetV2">    </p:cNvPr>
          <p:cNvPicPr>
            <a:picLocks noChangeAspect="1"/>
          </p:cNvPicPr>
          <p:nvPr/>
        </p:nvPicPr>
        <p:blipFill>
          <a:blip r:embed="rId1"/>
          <a:stretch>
            <a:fillRect/>
          </a:stretch>
        </p:blipFill>
        <p:spPr>
          <a:xfrm>
            <a:off x="457200" y="1097280"/>
            <a:ext cx="5120640" cy="2041973"/>
          </a:xfrm>
          <a:prstGeom prst="rect">
            <a:avLst/>
          </a:prstGeom>
        </p:spPr>
      </p:pic>
      <p:sp>
        <p:nvSpPr>
          <p:cNvPr id="4" name="cm-working"/>
          <p:cNvSpPr/>
          <p:nvPr/>
        </p:nvSpPr>
        <p:spPr>
          <a:xfrm>
            <a:off x="5806440" y="1097280"/>
            <a:ext cx="2880360" cy="2971800"/>
          </a:xfrm>
          <a:prstGeom prst="roundRect">
            <a:avLst>
              <a:gd name="adj" fmla="val 2540"/>
            </a:avLst>
          </a:prstGeom>
          <a:solidFill>
            <a:schemeClr val="bg2"/>
          </a:solidFill>
          <a:ln w="12700">
            <a:solidFill>
              <a:schemeClr val="bg2"/>
            </a:solidFill>
            <a:prstDash val="solid"/>
          </a:ln>
        </p:spPr>
      </p:sp>
      <p:sp>
        <p:nvSpPr>
          <p:cNvPr id="5" name="Text 2"/>
          <p:cNvSpPr txBox="1"/>
          <p:nvPr/>
        </p:nvSpPr>
        <p:spPr>
          <a:xfrm>
            <a:off x="6035040" y="1234440"/>
            <a:ext cx="2468880" cy="3200400"/>
          </a:xfrm>
          <a:prstGeom prst="rect">
            <a:avLst/>
          </a:prstGeom>
          <a:noFill/>
          <a:ln/>
        </p:spPr>
        <p:txBody>
          <a:bodyPr wrap="square" lIns="0" tIns="0" rIns="0" bIns="0" rtlCol="0" anchor="t"/>
          <a:lstStyle/>
          <a:p>
            <a:pPr indent="0" marL="0">
              <a:buNone/>
            </a:pPr>
            <a:r>
              <a:rPr lang="en-US" sz="1500" b="1" dirty="0">
                <a:solidFill>
                  <a:schemeClr val="tx1"/>
                </a:solidFill>
              </a:rPr>
              <a:t>Custom CNN</a:t>
            </a:r>
            <a:endParaRPr lang="en-US" sz="1300" dirty="0"/>
          </a:p>
          <a:p>
            <a:pPr indent="0" marL="0">
              <a:buNone/>
            </a:pPr>
            <a:r>
              <a:rPr lang="en-US" sz="1300" dirty="0">
                <a:solidFill>
                  <a:schemeClr val="tx1"/>
                </a:solidFill>
              </a:rPr>
              <a:t>Recall = 439 ÷ (439 + 84)</a:t>
            </a:r>
            <a:endParaRPr lang="en-US" sz="1300" dirty="0"/>
          </a:p>
          <a:p>
            <a:pPr indent="0" marL="0">
              <a:buNone/>
            </a:pPr>
            <a:r>
              <a:rPr lang="en-US" sz="1300" b="1" dirty="0">
                <a:solidFill>
                  <a:schemeClr val="tx1"/>
                </a:solidFill>
              </a:rPr>
              <a:t>= 439 ÷ 523 = 0.839</a:t>
            </a:r>
            <a:endParaRPr lang="en-US" sz="1300" dirty="0"/>
          </a:p>
          <a:p>
            <a:pPr indent="0" marL="0">
              <a:buNone/>
            </a:pPr>
            <a:r>
              <a:rPr lang="en-US" sz="600" dirty="0">
                <a:solidFill>
                  <a:schemeClr val="tx1"/>
                </a:solidFill>
              </a:rPr>
              <a:t> </a:t>
            </a:r>
            <a:endParaRPr lang="en-US" sz="1300" dirty="0"/>
          </a:p>
          <a:p>
            <a:pPr indent="0" marL="0">
              <a:buNone/>
            </a:pPr>
            <a:r>
              <a:rPr lang="en-US" sz="1500" b="1" dirty="0">
                <a:solidFill>
                  <a:schemeClr val="tx1"/>
                </a:solidFill>
              </a:rPr>
              <a:t>MobileNetV2</a:t>
            </a:r>
            <a:endParaRPr lang="en-US" sz="1300" dirty="0"/>
          </a:p>
          <a:p>
            <a:pPr indent="0" marL="0">
              <a:buNone/>
            </a:pPr>
            <a:r>
              <a:rPr lang="en-US" sz="1300" dirty="0">
                <a:solidFill>
                  <a:schemeClr val="tx1"/>
                </a:solidFill>
              </a:rPr>
              <a:t>Recall = 476 ÷ (476 + 38)</a:t>
            </a:r>
            <a:endParaRPr lang="en-US" sz="1300" dirty="0"/>
          </a:p>
          <a:p>
            <a:pPr indent="0" marL="0">
              <a:buNone/>
            </a:pPr>
            <a:r>
              <a:rPr lang="en-US" sz="1300" b="1" dirty="0">
                <a:solidFill>
                  <a:schemeClr val="tx1"/>
                </a:solidFill>
              </a:rPr>
              <a:t>= 476 ÷ 514 = 0.926</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MobileNetV2 misses 38 bare heads vs 84, and raises 30 false alarms vs 58.</a:t>
            </a:r>
            <a:endParaRPr lang="en-US" sz="1300" dirty="0"/>
          </a:p>
        </p:txBody>
      </p:sp>
      <p:sp>
        <p:nvSpPr>
          <p:cNvPr id="6" name="Text 3"/>
          <p:cNvSpPr txBox="1"/>
          <p:nvPr/>
        </p:nvSpPr>
        <p:spPr>
          <a:xfrm>
            <a:off x="457200" y="3291840"/>
            <a:ext cx="5120640" cy="320040"/>
          </a:xfrm>
          <a:prstGeom prst="rect">
            <a:avLst/>
          </a:prstGeom>
          <a:noFill/>
          <a:ln/>
        </p:spPr>
        <p:txBody>
          <a:bodyPr wrap="square" lIns="0" tIns="0" rIns="0" bIns="0" rtlCol="0" anchor="ctr"/>
          <a:lstStyle/>
          <a:p>
            <a:pPr indent="0" marL="0">
              <a:buNone/>
            </a:pPr>
            <a:r>
              <a:rPr lang="en-US" sz="1100" i="1" dirty="0">
                <a:solidFill>
                  <a:schemeClr val="accent4"/>
                </a:solidFill>
              </a:rPr>
              <a:t>Rows = actual class, columns = predicted class (test set, 2,553 crops)</a:t>
            </a:r>
            <a:endParaRPr lang="en-US" sz="1100" dirty="0"/>
          </a:p>
        </p:txBody>
      </p:sp>
      <p:sp>
        <p:nvSpPr>
          <p:cNvPr id="7" name="Text 4"/>
          <p:cNvSpPr txBox="1"/>
          <p:nvPr/>
        </p:nvSpPr>
        <p:spPr>
          <a:xfrm>
            <a:off x="457200" y="3703320"/>
            <a:ext cx="512064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Missed bare heads (false negatives) are the safety-critical error</a:t>
            </a:r>
            <a:endParaRPr lang="en-US" sz="1400" dirty="0"/>
          </a:p>
          <a:p>
            <a:pPr marL="342900" indent="-342900">
              <a:spcAft>
                <a:spcPts val="400"/>
              </a:spcAft>
              <a:buSzPct val="100000"/>
              <a:buChar char="•"/>
            </a:pPr>
            <a:r>
              <a:rPr lang="en-US" sz="1400" dirty="0">
                <a:solidFill>
                  <a:schemeClr val="tx1"/>
                </a:solidFill>
              </a:rPr>
              <a:t>MobileNetV2 halves both error types compared with the custom CNN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Ranking quality vs speed</a:t>
            </a:r>
            <a:endParaRPr lang="en-US" sz="2800" dirty="0"/>
          </a:p>
        </p:txBody>
      </p:sp>
      <p:pic>
        <p:nvPicPr>
          <p:cNvPr id="3" name="Image 0" descr="ROC curves for custom CNN and MobileNetV2">    </p:cNvPr>
          <p:cNvPicPr>
            <a:picLocks noChangeAspect="1"/>
          </p:cNvPicPr>
          <p:nvPr/>
        </p:nvPicPr>
        <p:blipFill>
          <a:blip r:embed="rId1"/>
          <a:stretch>
            <a:fillRect/>
          </a:stretch>
        </p:blipFill>
        <p:spPr>
          <a:xfrm>
            <a:off x="457200" y="1051560"/>
            <a:ext cx="3520440" cy="3520440"/>
          </a:xfrm>
          <a:prstGeom prst="rect">
            <a:avLst/>
          </a:prstGeom>
        </p:spPr>
      </p:pic>
      <p:graphicFrame>
        <p:nvGraphicFramePr>
          <p:cNvPr id="4" name="Chart 0" descr=""/>
          <p:cNvGraphicFramePr/>
          <p:nvPr/>
        </p:nvGraphicFramePr>
        <p:xfrm>
          <a:off x="4251960" y="1051560"/>
          <a:ext cx="4434840" cy="23774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251960" y="3520440"/>
            <a:ext cx="44348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AUC 0.977 vs 0.993: both rank bare heads well</a:t>
            </a:r>
            <a:endParaRPr lang="en-US" sz="1300" dirty="0"/>
          </a:p>
          <a:p>
            <a:pPr marL="342900" indent="-342900">
              <a:spcAft>
                <a:spcPts val="400"/>
              </a:spcAft>
              <a:buSzPct val="100000"/>
              <a:buChar char="•"/>
            </a:pPr>
            <a:r>
              <a:rPr lang="en-US" sz="1300" dirty="0">
                <a:solidFill>
                  <a:schemeClr val="tx1"/>
                </a:solidFill>
              </a:rPr>
              <a:t>Custom CNN is 22% faster (116.5 vs 149.6 ms)</a:t>
            </a:r>
            <a:endParaRPr lang="en-US" sz="1300" dirty="0"/>
          </a:p>
          <a:p>
            <a:pPr marL="342900" indent="-342900">
              <a:spcAft>
                <a:spcPts val="400"/>
              </a:spcAft>
              <a:buSzPct val="100000"/>
              <a:buChar char="•"/>
            </a:pPr>
            <a:r>
              <a:rPr lang="en-US" sz="1300" dirty="0">
                <a:solidFill>
                  <a:schemeClr val="tx1"/>
                </a:solidFill>
              </a:rPr>
              <a:t>Timed one image per predict() call on CPU, so absolute times are inflated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Grad-CAM: what the custom CNN looks at</a:t>
            </a:r>
            <a:endParaRPr lang="en-US" sz="2800" dirty="0"/>
          </a:p>
        </p:txBody>
      </p:sp>
      <p:pic>
        <p:nvPicPr>
          <p:cNvPr id="3" name="Image 0" descr="Grad-CAM on correct predictions">    </p:cNvPr>
          <p:cNvPicPr>
            <a:picLocks noChangeAspect="1"/>
          </p:cNvPicPr>
          <p:nvPr/>
        </p:nvPicPr>
        <p:blipFill>
          <a:blip r:embed="rId1"/>
          <a:stretch>
            <a:fillRect/>
          </a:stretch>
        </p:blipFill>
        <p:spPr>
          <a:xfrm>
            <a:off x="457200" y="1051560"/>
            <a:ext cx="5120640" cy="1773904"/>
          </a:xfrm>
          <a:prstGeom prst="rect">
            <a:avLst/>
          </a:prstGeom>
        </p:spPr>
      </p:pic>
      <p:pic>
        <p:nvPicPr>
          <p:cNvPr id="4" name="Image 1" descr="Grad-CAM on false negatives">    </p:cNvPr>
          <p:cNvPicPr>
            <a:picLocks noChangeAspect="1"/>
          </p:cNvPicPr>
          <p:nvPr/>
        </p:nvPicPr>
        <p:blipFill>
          <a:blip r:embed="rId2"/>
          <a:stretch>
            <a:fillRect/>
          </a:stretch>
        </p:blipFill>
        <p:spPr>
          <a:xfrm>
            <a:off x="457200" y="2962624"/>
            <a:ext cx="5120640" cy="1773904"/>
          </a:xfrm>
          <a:prstGeom prst="rect">
            <a:avLst/>
          </a:prstGeom>
        </p:spPr>
      </p:pic>
      <p:sp>
        <p:nvSpPr>
          <p:cNvPr id="5" name="gradcam-notes"/>
          <p:cNvSpPr/>
          <p:nvPr/>
        </p:nvSpPr>
        <p:spPr>
          <a:xfrm>
            <a:off x="5806440" y="1051560"/>
            <a:ext cx="2880360" cy="3520440"/>
          </a:xfrm>
          <a:prstGeom prst="roundRect">
            <a:avLst>
              <a:gd name="adj" fmla="val 2540"/>
            </a:avLst>
          </a:prstGeom>
          <a:solidFill>
            <a:schemeClr val="bg2"/>
          </a:solidFill>
          <a:ln w="12700">
            <a:solidFill>
              <a:schemeClr val="bg2"/>
            </a:solidFill>
            <a:prstDash val="solid"/>
          </a:ln>
        </p:spPr>
      </p:sp>
      <p:sp>
        <p:nvSpPr>
          <p:cNvPr id="6" name="Shape 2"/>
          <p:cNvSpPr/>
          <p:nvPr/>
        </p:nvSpPr>
        <p:spPr>
          <a:xfrm>
            <a:off x="6035040" y="1234440"/>
            <a:ext cx="457200" cy="457200"/>
          </a:xfrm>
          <a:prstGeom prst="ellipse">
            <a:avLst/>
          </a:prstGeom>
          <a:solidFill>
            <a:schemeClr val="accent1"/>
          </a:solidFill>
          <a:ln w="12700">
            <a:solidFill>
              <a:schemeClr val="accent1"/>
            </a:solidFill>
            <a:prstDash val="solid"/>
          </a:ln>
        </p:spPr>
      </p:sp>
      <p:pic>
        <p:nvPicPr>
          <p:cNvPr id="7" name="Image 2" descr="preencoded.png">    </p:cNvPr>
          <p:cNvPicPr>
            <a:picLocks noChangeAspect="1"/>
          </p:cNvPicPr>
          <p:nvPr/>
        </p:nvPicPr>
        <p:blipFill>
          <a:blip r:embed="rId3"/>
          <a:stretch>
            <a:fillRect/>
          </a:stretch>
        </p:blipFill>
        <p:spPr>
          <a:xfrm>
            <a:off x="6135624" y="1335024"/>
            <a:ext cx="256032" cy="256032"/>
          </a:xfrm>
          <a:prstGeom prst="rect">
            <a:avLst/>
          </a:prstGeom>
        </p:spPr>
      </p:pic>
      <p:sp>
        <p:nvSpPr>
          <p:cNvPr id="8" name="Text 3"/>
          <p:cNvSpPr txBox="1"/>
          <p:nvPr/>
        </p:nvSpPr>
        <p:spPr>
          <a:xfrm>
            <a:off x="6035040" y="1828800"/>
            <a:ext cx="2468880" cy="2651760"/>
          </a:xfrm>
          <a:prstGeom prst="rect">
            <a:avLst/>
          </a:prstGeom>
          <a:noFill/>
          <a:ln/>
        </p:spPr>
        <p:txBody>
          <a:bodyPr wrap="square" lIns="0" tIns="0" rIns="0" bIns="0" rtlCol="0" anchor="t"/>
          <a:lstStyle/>
          <a:p>
            <a:pPr indent="0" marL="0">
              <a:buNone/>
            </a:pPr>
            <a:r>
              <a:rPr lang="en-US" sz="1300" b="1" dirty="0">
                <a:solidFill>
                  <a:schemeClr val="tx1"/>
                </a:solidFill>
              </a:rPr>
              <a:t>Top: correct predictions</a:t>
            </a:r>
            <a:endParaRPr lang="en-US" sz="1300" dirty="0"/>
          </a:p>
          <a:p>
            <a:pPr indent="0" marL="0">
              <a:buNone/>
            </a:pPr>
            <a:r>
              <a:rPr lang="en-US" sz="1300" dirty="0">
                <a:solidFill>
                  <a:schemeClr val="tx1"/>
                </a:solidFill>
              </a:rPr>
              <a:t>Heat sits mostly on crop borders, not the helmet shell.</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Bottom: missed bare heads</a:t>
            </a:r>
            <a:endParaRPr lang="en-US" sz="1300" dirty="0"/>
          </a:p>
          <a:p>
            <a:pPr indent="0" marL="0">
              <a:buNone/>
            </a:pPr>
            <a:r>
              <a:rPr lang="en-US" sz="1300" dirty="0">
                <a:solidFill>
                  <a:schemeClr val="tx1"/>
                </a:solidFill>
              </a:rPr>
              <a:t>Activation lands on the face and background.</a:t>
            </a:r>
            <a:endParaRPr lang="en-US" sz="1300" dirty="0"/>
          </a:p>
          <a:p>
            <a:pPr indent="0" marL="0">
              <a:buNone/>
            </a:pPr>
            <a:r>
              <a:rPr lang="en-US" sz="600" dirty="0">
                <a:solidFill>
                  <a:schemeClr val="tx1"/>
                </a:solidFill>
              </a:rPr>
              <a:t> </a:t>
            </a:r>
            <a:endParaRPr lang="en-US" sz="1300" dirty="0"/>
          </a:p>
          <a:p>
            <a:pPr indent="0" marL="0">
              <a:buNone/>
            </a:pPr>
            <a:r>
              <a:rPr lang="en-US" sz="1300" i="1" dirty="0">
                <a:solidFill>
                  <a:schemeClr val="tx1"/>
                </a:solidFill>
              </a:rPr>
              <a:t>The model partly relies on padding and edge cues.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Limitations to fix in the next run</a:t>
            </a:r>
            <a:endParaRPr lang="en-US" sz="2800" dirty="0"/>
          </a:p>
        </p:txBody>
      </p:sp>
      <p:sp>
        <p:nvSpPr>
          <p:cNvPr id="3" name="Shape 1"/>
          <p:cNvSpPr/>
          <p:nvPr/>
        </p:nvSpPr>
        <p:spPr>
          <a:xfrm>
            <a:off x="457200" y="1188720"/>
            <a:ext cx="502920" cy="5029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67842" y="1299362"/>
            <a:ext cx="281635" cy="281635"/>
          </a:xfrm>
          <a:prstGeom prst="rect">
            <a:avLst/>
          </a:prstGeom>
        </p:spPr>
      </p:pic>
      <p:sp>
        <p:nvSpPr>
          <p:cNvPr id="5" name="Text 2"/>
          <p:cNvSpPr txBox="1"/>
          <p:nvPr/>
        </p:nvSpPr>
        <p:spPr>
          <a:xfrm>
            <a:off x="1143000" y="1143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CPU only, 2 epochs</a:t>
            </a:r>
            <a:endParaRPr lang="en-US" sz="1500" dirty="0"/>
          </a:p>
        </p:txBody>
      </p:sp>
      <p:sp>
        <p:nvSpPr>
          <p:cNvPr id="6" name="Text 3"/>
          <p:cNvSpPr txBox="1"/>
          <p:nvPr/>
        </p:nvSpPr>
        <p:spPr>
          <a:xfrm>
            <a:off x="1143000" y="1508760"/>
            <a:ext cx="3337560" cy="594360"/>
          </a:xfrm>
          <a:prstGeom prst="rect">
            <a:avLst/>
          </a:prstGeom>
          <a:noFill/>
          <a:ln/>
        </p:spPr>
        <p:txBody>
          <a:bodyPr wrap="square" lIns="0" tIns="0" rIns="0" bIns="0" rtlCol="0" anchor="t"/>
          <a:lstStyle/>
          <a:p>
            <a:pPr indent="0" marL="0">
              <a:buNone/>
            </a:pPr>
            <a:r>
              <a:rPr lang="en-US" sz="1300" dirty="0">
                <a:solidFill>
                  <a:schemeClr val="tx2"/>
                </a:solidFill>
              </a:rPr>
              <a:t>No GPU attached; the custom CNN was still improving.</a:t>
            </a:r>
            <a:endParaRPr lang="en-US" sz="1300" dirty="0"/>
          </a:p>
        </p:txBody>
      </p:sp>
      <p:sp>
        <p:nvSpPr>
          <p:cNvPr id="7" name="Shape 4"/>
          <p:cNvSpPr/>
          <p:nvPr/>
        </p:nvSpPr>
        <p:spPr>
          <a:xfrm>
            <a:off x="4663440" y="1188720"/>
            <a:ext cx="502920" cy="50292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4774082" y="1299362"/>
            <a:ext cx="281635" cy="281635"/>
          </a:xfrm>
          <a:prstGeom prst="rect">
            <a:avLst/>
          </a:prstGeom>
        </p:spPr>
      </p:pic>
      <p:sp>
        <p:nvSpPr>
          <p:cNvPr id="9" name="Text 5"/>
          <p:cNvSpPr txBox="1"/>
          <p:nvPr/>
        </p:nvSpPr>
        <p:spPr>
          <a:xfrm>
            <a:off x="5349240" y="1143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ResNet50 not evaluated</a:t>
            </a:r>
            <a:endParaRPr lang="en-US" sz="1500" dirty="0"/>
          </a:p>
        </p:txBody>
      </p:sp>
      <p:sp>
        <p:nvSpPr>
          <p:cNvPr id="10" name="Text 6"/>
          <p:cNvSpPr txBox="1"/>
          <p:nvPr/>
        </p:nvSpPr>
        <p:spPr>
          <a:xfrm>
            <a:off x="5349240" y="1508760"/>
            <a:ext cx="3337560" cy="594360"/>
          </a:xfrm>
          <a:prstGeom prst="rect">
            <a:avLst/>
          </a:prstGeom>
          <a:noFill/>
          <a:ln/>
        </p:spPr>
        <p:txBody>
          <a:bodyPr wrap="square" lIns="0" tIns="0" rIns="0" bIns="0" rtlCol="0" anchor="t"/>
          <a:lstStyle/>
          <a:p>
            <a:pPr indent="0" marL="0">
              <a:buNone/>
            </a:pPr>
            <a:r>
              <a:rPr lang="en-US" sz="1300" dirty="0">
                <a:solidFill>
                  <a:schemeClr val="tx2"/>
                </a:solidFill>
              </a:rPr>
              <a:t>Training was interrupted in epoch 2, so it has no test results.</a:t>
            </a:r>
            <a:endParaRPr lang="en-US" sz="1300" dirty="0"/>
          </a:p>
        </p:txBody>
      </p:sp>
      <p:sp>
        <p:nvSpPr>
          <p:cNvPr id="11" name="Shape 7"/>
          <p:cNvSpPr/>
          <p:nvPr/>
        </p:nvSpPr>
        <p:spPr>
          <a:xfrm>
            <a:off x="457200" y="2331720"/>
            <a:ext cx="502920" cy="5029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567842" y="2442362"/>
            <a:ext cx="281635" cy="281635"/>
          </a:xfrm>
          <a:prstGeom prst="rect">
            <a:avLst/>
          </a:prstGeom>
        </p:spPr>
      </p:pic>
      <p:sp>
        <p:nvSpPr>
          <p:cNvPr id="13" name="Text 8"/>
          <p:cNvSpPr txBox="1"/>
          <p:nvPr/>
        </p:nvSpPr>
        <p:spPr>
          <a:xfrm>
            <a:off x="1143000" y="2286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Unstable val / test split</a:t>
            </a:r>
            <a:endParaRPr lang="en-US" sz="1500" dirty="0"/>
          </a:p>
        </p:txBody>
      </p:sp>
      <p:sp>
        <p:nvSpPr>
          <p:cNvPr id="14" name="Text 9"/>
          <p:cNvSpPr txBox="1"/>
          <p:nvPr/>
        </p:nvSpPr>
        <p:spPr>
          <a:xfrm>
            <a:off x="1143000" y="2651760"/>
            <a:ext cx="3337560" cy="594360"/>
          </a:xfrm>
          <a:prstGeom prst="rect">
            <a:avLst/>
          </a:prstGeom>
          <a:noFill/>
          <a:ln/>
        </p:spPr>
        <p:txBody>
          <a:bodyPr wrap="square" lIns="0" tIns="0" rIns="0" bIns="0" rtlCol="0" anchor="t"/>
          <a:lstStyle/>
          <a:p>
            <a:pPr indent="0" marL="0">
              <a:buNone/>
            </a:pPr>
            <a:r>
              <a:rPr lang="en-US" sz="1300" dirty="0">
                <a:solidFill>
                  <a:schemeClr val="tx2"/>
                </a:solidFill>
              </a:rPr>
              <a:t>take()/skip() on a reshuffled dataset: test counts differ (523 vs 514).</a:t>
            </a:r>
            <a:endParaRPr lang="en-US" sz="1300" dirty="0"/>
          </a:p>
        </p:txBody>
      </p:sp>
      <p:sp>
        <p:nvSpPr>
          <p:cNvPr id="15" name="Shape 10"/>
          <p:cNvSpPr/>
          <p:nvPr/>
        </p:nvSpPr>
        <p:spPr>
          <a:xfrm>
            <a:off x="4663440" y="2331720"/>
            <a:ext cx="502920" cy="50292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4774082" y="2442362"/>
            <a:ext cx="281635" cy="281635"/>
          </a:xfrm>
          <a:prstGeom prst="rect">
            <a:avLst/>
          </a:prstGeom>
        </p:spPr>
      </p:pic>
      <p:sp>
        <p:nvSpPr>
          <p:cNvPr id="17" name="Text 11"/>
          <p:cNvSpPr txBox="1"/>
          <p:nvPr/>
        </p:nvSpPr>
        <p:spPr>
          <a:xfrm>
            <a:off x="5349240" y="2286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Crop-level split</a:t>
            </a:r>
            <a:endParaRPr lang="en-US" sz="1500" dirty="0"/>
          </a:p>
        </p:txBody>
      </p:sp>
      <p:sp>
        <p:nvSpPr>
          <p:cNvPr id="18" name="Text 12"/>
          <p:cNvSpPr txBox="1"/>
          <p:nvPr/>
        </p:nvSpPr>
        <p:spPr>
          <a:xfrm>
            <a:off x="5349240" y="2651760"/>
            <a:ext cx="3337560" cy="594360"/>
          </a:xfrm>
          <a:prstGeom prst="rect">
            <a:avLst/>
          </a:prstGeom>
          <a:noFill/>
          <a:ln/>
        </p:spPr>
        <p:txBody>
          <a:bodyPr wrap="square" lIns="0" tIns="0" rIns="0" bIns="0" rtlCol="0" anchor="t"/>
          <a:lstStyle/>
          <a:p>
            <a:pPr indent="0" marL="0">
              <a:buNone/>
            </a:pPr>
            <a:r>
              <a:rPr lang="en-US" sz="1300" dirty="0">
                <a:solidFill>
                  <a:schemeClr val="tx2"/>
                </a:solidFill>
              </a:rPr>
              <a:t>Crops of the same scene can sit in train and test.</a:t>
            </a:r>
            <a:endParaRPr lang="en-US" sz="1300" dirty="0"/>
          </a:p>
        </p:txBody>
      </p:sp>
      <p:sp>
        <p:nvSpPr>
          <p:cNvPr id="19" name="Shape 13"/>
          <p:cNvSpPr/>
          <p:nvPr/>
        </p:nvSpPr>
        <p:spPr>
          <a:xfrm>
            <a:off x="457200" y="3474720"/>
            <a:ext cx="502920" cy="502920"/>
          </a:xfrm>
          <a:prstGeom prst="ellipse">
            <a:avLst/>
          </a:prstGeom>
          <a:solidFill>
            <a:schemeClr val="accent1"/>
          </a:solidFill>
          <a:ln w="12700">
            <a:solidFill>
              <a:schemeClr val="accent1"/>
            </a:solidFill>
            <a:prstDash val="solid"/>
          </a:ln>
        </p:spPr>
      </p:sp>
      <p:pic>
        <p:nvPicPr>
          <p:cNvPr id="20" name="Image 4" descr="preencoded.png">    </p:cNvPr>
          <p:cNvPicPr>
            <a:picLocks noChangeAspect="1"/>
          </p:cNvPicPr>
          <p:nvPr/>
        </p:nvPicPr>
        <p:blipFill>
          <a:blip r:embed="rId5"/>
          <a:stretch>
            <a:fillRect/>
          </a:stretch>
        </p:blipFill>
        <p:spPr>
          <a:xfrm>
            <a:off x="567842" y="3585362"/>
            <a:ext cx="281635" cy="281635"/>
          </a:xfrm>
          <a:prstGeom prst="rect">
            <a:avLst/>
          </a:prstGeom>
        </p:spPr>
      </p:pic>
      <p:sp>
        <p:nvSpPr>
          <p:cNvPr id="21" name="Text 14"/>
          <p:cNvSpPr txBox="1"/>
          <p:nvPr/>
        </p:nvSpPr>
        <p:spPr>
          <a:xfrm>
            <a:off x="1143000" y="3429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No class weights or tuning</a:t>
            </a:r>
            <a:endParaRPr lang="en-US" sz="1500" dirty="0"/>
          </a:p>
        </p:txBody>
      </p:sp>
      <p:sp>
        <p:nvSpPr>
          <p:cNvPr id="22" name="Text 15"/>
          <p:cNvSpPr txBox="1"/>
          <p:nvPr/>
        </p:nvSpPr>
        <p:spPr>
          <a:xfrm>
            <a:off x="1143000" y="3794760"/>
            <a:ext cx="3337560" cy="594360"/>
          </a:xfrm>
          <a:prstGeom prst="rect">
            <a:avLst/>
          </a:prstGeom>
          <a:noFill/>
          <a:ln/>
        </p:spPr>
        <p:txBody>
          <a:bodyPr wrap="square" lIns="0" tIns="0" rIns="0" bIns="0" rtlCol="0" anchor="t"/>
          <a:lstStyle/>
          <a:p>
            <a:pPr indent="0" marL="0">
              <a:buNone/>
            </a:pPr>
            <a:r>
              <a:rPr lang="en-US" sz="1300" dirty="0">
                <a:solidFill>
                  <a:schemeClr val="tx2"/>
                </a:solidFill>
              </a:rPr>
              <a:t>Fixed 0.5 threshold on 3.69 : 1 imbalanced data.</a:t>
            </a:r>
            <a:endParaRPr lang="en-US" sz="1300" dirty="0"/>
          </a:p>
        </p:txBody>
      </p:sp>
      <p:sp>
        <p:nvSpPr>
          <p:cNvPr id="23" name="Shape 16"/>
          <p:cNvSpPr/>
          <p:nvPr/>
        </p:nvSpPr>
        <p:spPr>
          <a:xfrm>
            <a:off x="4663440" y="3474720"/>
            <a:ext cx="502920" cy="502920"/>
          </a:xfrm>
          <a:prstGeom prst="ellipse">
            <a:avLst/>
          </a:prstGeom>
          <a:solidFill>
            <a:schemeClr val="accent1"/>
          </a:solidFill>
          <a:ln w="12700">
            <a:solidFill>
              <a:schemeClr val="accent1"/>
            </a:solidFill>
            <a:prstDash val="solid"/>
          </a:ln>
        </p:spPr>
      </p:sp>
      <p:pic>
        <p:nvPicPr>
          <p:cNvPr id="24" name="Image 5" descr="preencoded.png">    </p:cNvPr>
          <p:cNvPicPr>
            <a:picLocks noChangeAspect="1"/>
          </p:cNvPicPr>
          <p:nvPr/>
        </p:nvPicPr>
        <p:blipFill>
          <a:blip r:embed="rId6"/>
          <a:stretch>
            <a:fillRect/>
          </a:stretch>
        </p:blipFill>
        <p:spPr>
          <a:xfrm>
            <a:off x="4774082" y="3585362"/>
            <a:ext cx="281635" cy="281635"/>
          </a:xfrm>
          <a:prstGeom prst="rect">
            <a:avLst/>
          </a:prstGeom>
        </p:spPr>
      </p:pic>
      <p:sp>
        <p:nvSpPr>
          <p:cNvPr id="25" name="Text 17"/>
          <p:cNvSpPr txBox="1"/>
          <p:nvPr/>
        </p:nvSpPr>
        <p:spPr>
          <a:xfrm>
            <a:off x="5349240" y="3429000"/>
            <a:ext cx="333756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Grad-CAM fails for transfer models</a:t>
            </a:r>
            <a:endParaRPr lang="en-US" sz="1500" dirty="0"/>
          </a:p>
        </p:txBody>
      </p:sp>
      <p:sp>
        <p:nvSpPr>
          <p:cNvPr id="26" name="Text 18"/>
          <p:cNvSpPr txBox="1"/>
          <p:nvPr/>
        </p:nvSpPr>
        <p:spPr>
          <a:xfrm>
            <a:off x="5349240" y="3794760"/>
            <a:ext cx="3337560" cy="594360"/>
          </a:xfrm>
          <a:prstGeom prst="rect">
            <a:avLst/>
          </a:prstGeom>
          <a:noFill/>
          <a:ln/>
        </p:spPr>
        <p:txBody>
          <a:bodyPr wrap="square" lIns="0" tIns="0" rIns="0" bIns="0" rtlCol="0" anchor="t"/>
          <a:lstStyle/>
          <a:p>
            <a:pPr indent="0" marL="0">
              <a:buNone/>
            </a:pPr>
            <a:r>
              <a:rPr lang="en-US" sz="1300" dirty="0">
                <a:solidFill>
                  <a:schemeClr val="tx2"/>
                </a:solidFill>
              </a:rPr>
              <a:t>KeyError on the nested backbone layer.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rPr>
              <a:t>Transfer learning wins, but the custom CNN is close</a:t>
            </a:r>
            <a:endParaRPr lang="en-US" sz="3600" dirty="0"/>
          </a:p>
        </p:txBody>
      </p:sp>
      <p:sp>
        <p:nvSpPr>
          <p:cNvPr id="3" name="Text 0"/>
          <p:cNvSpPr/>
          <p:nvPr>
            <p:ph idx="101" type="body" hasCustomPrompt="1"/>
          </p:nvPr>
        </p:nvSpPr>
        <p:spPr>
          <a:xfrm>
            <a:off x="548640" y="2926080"/>
            <a:ext cx="804672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2"/>
                </a:solidFill>
              </a:rPr>
              <a:t>MobileNetV2: 97.3% accuracy, 0.926 no-helmet recall</a:t>
            </a:r>
            <a:endParaRPr lang="en-US" sz="1600" dirty="0"/>
          </a:p>
          <a:p>
            <a:pPr marL="342900" indent="-342900">
              <a:spcAft>
                <a:spcPts val="600"/>
              </a:spcAft>
              <a:buSzPct val="100000"/>
              <a:buChar char="•"/>
            </a:pPr>
            <a:r>
              <a:rPr lang="en-US" sz="1600" dirty="0">
                <a:solidFill>
                  <a:schemeClr val="bg2"/>
                </a:solidFill>
              </a:rPr>
              <a:t>Custom CNN: 94.4% accuracy with about 1/9 of the parameters, 22% faster</a:t>
            </a:r>
            <a:endParaRPr lang="en-US" sz="1600" dirty="0"/>
          </a:p>
          <a:p>
            <a:pPr marL="342900" indent="-342900">
              <a:spcAft>
                <a:spcPts val="600"/>
              </a:spcAft>
              <a:buSzPct val="100000"/>
              <a:buChar char="•"/>
            </a:pPr>
            <a:r>
              <a:rPr lang="en-US" sz="1600" dirty="0">
                <a:solidFill>
                  <a:schemeClr val="accent1"/>
                </a:solidFill>
              </a:rPr>
              <a:t>Next: GPU training, fixed image-level split, class weights, threshold tuning, detector + classifier on site video</a:t>
            </a:r>
            <a:endParaRPr lang="en-US" sz="1600" dirty="0"/>
          </a:p>
        </p:txBody>
      </p:sp>
      <p:pic>
        <p:nvPicPr>
          <p:cNvPr id="4" name="Image 0" descr="preencoded.png">    </p:cNvPr>
          <p:cNvPicPr>
            <a:picLocks noChangeAspect="1"/>
          </p:cNvPicPr>
          <p:nvPr/>
        </p:nvPicPr>
        <p:blipFill>
          <a:blip r:embed="rId1"/>
          <a:stretch>
            <a:fillRect/>
          </a:stretch>
        </p:blipFill>
        <p:spPr>
          <a:xfrm>
            <a:off x="548640" y="548640"/>
            <a:ext cx="777240" cy="777240"/>
          </a:xfrm>
          <a:prstGeom prst="rect">
            <a:avLst/>
          </a:prstGeom>
        </p:spPr>
      </p:pic>
    </p:spTree>
  </p:cSld>
  <p:clrMapOvr>
    <a:masterClrMapping/>
  </p:clrMapOvr>
</p:sld>
</file>

<file path=ppt/theme/theme1.xml><?xml version="1.0" encoding="utf-8"?>
<a:theme xmlns:a="http://schemas.openxmlformats.org/drawingml/2006/main" name="Site Safety">
  <a:themeElements>
    <a:clrScheme name="Site Safety">
      <a:dk1>
        <a:srgbClr val="1F2328"/>
      </a:dk1>
      <a:lt1>
        <a:srgbClr val="FFFFFF"/>
      </a:lt1>
      <a:dk2>
        <a:srgbClr val="495057"/>
      </a:dk2>
      <a:lt2>
        <a:srgbClr val="F1F3F5"/>
      </a:lt2>
      <a:accent1>
        <a:srgbClr val="F2B705"/>
      </a:accent1>
      <a:accent2>
        <a:srgbClr val="D9480F"/>
      </a:accent2>
      <a:accent3>
        <a:srgbClr val="2B8A3E"/>
      </a:accent3>
      <a:accent4>
        <a:srgbClr val="868E96"/>
      </a:accent4>
      <a:accent5>
        <a:srgbClr val="1864AB"/>
      </a:accent5>
      <a:accent6>
        <a:srgbClr val="C92A2A"/>
      </a:accent6>
      <a:hlink>
        <a:srgbClr val="1864AB"/>
      </a:hlink>
      <a:folHlink>
        <a:srgbClr val="5F3DC4"/>
      </a:folHlink>
    </a:clrScheme>
    <a:fontScheme name="Site Safe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 Helmet Use Recognition</dc:title>
  <dc:subject>PptxGenJS Presentation</dc:subject>
  <dc:creator>Iyallareddy Likith Reddy</dc:creator>
  <cp:lastModifiedBy>Iyallareddy Likith Reddy</cp:lastModifiedBy>
  <cp:revision>1</cp:revision>
  <dcterms:created xsi:type="dcterms:W3CDTF">2026-10-13T16:40:49Z</dcterms:created>
  <dcterms:modified xsi:type="dcterms:W3CDTF">2026-10-13T16:40:49Z</dcterms:modified>
</cp:coreProperties>
</file>